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5"/>
  </p:notesMasterIdLst>
  <p:handoutMasterIdLst>
    <p:handoutMasterId r:id="rId16"/>
  </p:handoutMasterIdLst>
  <p:sldIdLst>
    <p:sldId id="256" r:id="rId2"/>
    <p:sldId id="295" r:id="rId3"/>
    <p:sldId id="290" r:id="rId4"/>
    <p:sldId id="291" r:id="rId5"/>
    <p:sldId id="292" r:id="rId6"/>
    <p:sldId id="297" r:id="rId7"/>
    <p:sldId id="299" r:id="rId8"/>
    <p:sldId id="293" r:id="rId9"/>
    <p:sldId id="298" r:id="rId10"/>
    <p:sldId id="300" r:id="rId11"/>
    <p:sldId id="302" r:id="rId12"/>
    <p:sldId id="303" r:id="rId13"/>
    <p:sldId id="288" r:id="rId14"/>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669" autoAdjust="0"/>
  </p:normalViewPr>
  <p:slideViewPr>
    <p:cSldViewPr>
      <p:cViewPr varScale="1">
        <p:scale>
          <a:sx n="111" d="100"/>
          <a:sy n="111" d="100"/>
        </p:scale>
        <p:origin x="1134" y="9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14/03/2026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14/03/2026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2589C-58F0-5A88-C882-7E92ABD59BE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14D66F-CB2B-D621-6EAC-AC364AF84E1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8A698F5-52F0-C12D-349F-3841C129A3C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49A28D2-5619-46C0-5E9B-F090B3CBDF70}"/>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6059845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3712D-062B-09DC-1D35-DE1C78F4B89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5B89BEE-E2E8-7260-2635-8E6DC5E4391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28A0B49-0BAC-A109-895B-C0D5BB678AA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5C98A4B5-4AD3-4B91-D03A-53C86FA7DC96}"/>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3438200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6B500-5FDA-88E0-4A1D-133A2A430B4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7A73D47-9B1B-4008-EE80-9DAA783DBCE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8923C6A-C14F-2441-2560-4A99C06E6F2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59C44CF-0579-3BA9-FA48-0614476BD4C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6564349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922AA-DB43-501F-5806-37FCA6D8DF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74EC0F-6FDD-D21F-E90F-3159569D26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135216B-F63F-D7C6-67E1-20F7CD33179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AF3E5F5-A2F2-A1C0-EAB0-5E7D7F1A14CF}"/>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1847923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1EA56-6CFB-411E-F6DF-07ABED49EF0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6F1A190-FDEC-AF2D-BDED-85881903EE6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5ACBF81-A98F-DDC2-A628-23D5AC1ABE5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CA3FB7-67BB-D488-AFA4-2C59F8AB0EF3}"/>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498299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3.png"/><Relationship Id="rId7" Type="http://schemas.openxmlformats.org/officeDocument/2006/relationships/image" Target="NUL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10" Type="http://schemas.openxmlformats.org/officeDocument/2006/relationships/image" Target="../media/image12.png"/><Relationship Id="rId4" Type="http://schemas.openxmlformats.org/officeDocument/2006/relationships/image" Target="../media/image4.sv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José Alberto Peña Cruz , Pablo de Manuel Vicente</a:t>
            </a:r>
          </a:p>
          <a:p>
            <a:pPr marL="12700">
              <a:lnSpc>
                <a:spcPct val="100000"/>
              </a:lnSpc>
              <a:spcBef>
                <a:spcPts val="100"/>
              </a:spcBef>
            </a:pPr>
            <a:r>
              <a:rPr lang="es-ES" spc="165" dirty="0" err="1">
                <a:latin typeface="Arial"/>
                <a:cs typeface="Arial"/>
              </a:rPr>
              <a:t>Group</a:t>
            </a:r>
            <a:r>
              <a:rPr lang="es-ES" spc="165" dirty="0">
                <a:latin typeface="Arial"/>
                <a:cs typeface="Arial"/>
              </a:rPr>
              <a:t>: B1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600"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marL="171450" indent="-171450" algn="just">
              <a:buFont typeface="Arial" panose="020B0604020202020204" pitchFamily="34" charset="0"/>
              <a:buChar char="•"/>
            </a:pPr>
            <a:r>
              <a:rPr lang="en-US" sz="1200" dirty="0" err="1">
                <a:latin typeface="Arial" panose="020B0604020202020204" pitchFamily="34" charset="0"/>
                <a:cs typeface="Arial" panose="020B0604020202020204" pitchFamily="34" charset="0"/>
              </a:rPr>
              <a:t>Utilizando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combinación</a:t>
            </a:r>
            <a:r>
              <a:rPr lang="en-US" sz="1200" dirty="0">
                <a:latin typeface="Arial" panose="020B0604020202020204" pitchFamily="34" charset="0"/>
                <a:cs typeface="Arial" panose="020B0604020202020204" pitchFamily="34" charset="0"/>
              </a:rPr>
              <a:t> de sin y sio2 para </a:t>
            </a:r>
            <a:r>
              <a:rPr lang="en-US" sz="1200" dirty="0" err="1">
                <a:latin typeface="Arial" panose="020B0604020202020204" pitchFamily="34" charset="0"/>
                <a:cs typeface="Arial" panose="020B0604020202020204" pitchFamily="34" charset="0"/>
              </a:rPr>
              <a:t>núcleo</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respectivamente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4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calculados</a:t>
            </a:r>
            <a:r>
              <a:rPr lang="en-US" sz="1200" dirty="0">
                <a:latin typeface="Arial" panose="020B0604020202020204" pitchFamily="34" charset="0"/>
                <a:cs typeface="Arial" panose="020B0604020202020204" pitchFamily="34" charset="0"/>
              </a:rPr>
              <a:t> solo dos de </a:t>
            </a:r>
            <a:r>
              <a:rPr lang="en-US" sz="1200" dirty="0" err="1">
                <a:latin typeface="Arial" panose="020B0604020202020204" pitchFamily="34" charset="0"/>
                <a:cs typeface="Arial" panose="020B0604020202020204" pitchFamily="34" charset="0"/>
              </a:rPr>
              <a:t>ellos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refracción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3 y 4 (TE1 y TM1) es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del material de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(sio2).</a:t>
            </a:r>
          </a:p>
          <a:p>
            <a:pPr marL="171450" indent="-171450" algn="just">
              <a:buFont typeface="Arial" panose="020B0604020202020204" pitchFamily="34" charset="0"/>
              <a:buChar char="•"/>
            </a:pPr>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plots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1 y 2 </a:t>
            </a:r>
            <a:r>
              <a:rPr lang="en-US" sz="1200" dirty="0" err="1">
                <a:latin typeface="Arial" panose="020B0604020202020204" pitchFamily="34" charset="0"/>
                <a:cs typeface="Arial" panose="020B0604020202020204" pitchFamily="34" charset="0"/>
              </a:rPr>
              <a:t>correspondientas</a:t>
            </a:r>
            <a:r>
              <a:rPr lang="en-US" sz="1200" dirty="0">
                <a:latin typeface="Arial" panose="020B0604020202020204" pitchFamily="34" charset="0"/>
                <a:cs typeface="Arial" panose="020B0604020202020204" pitchFamily="34" charset="0"/>
              </a:rPr>
              <a:t> a TE0 y TM0 la </a:t>
            </a:r>
            <a:r>
              <a:rPr lang="en-US" sz="1200" dirty="0" err="1">
                <a:latin typeface="Arial" panose="020B0604020202020204" pitchFamily="34" charset="0"/>
                <a:cs typeface="Arial" panose="020B0604020202020204" pitchFamily="34" charset="0"/>
              </a:rPr>
              <a:t>intensidad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campos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dichos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concentra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centro</a:t>
            </a:r>
            <a:r>
              <a:rPr lang="en-US" sz="12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n-US" sz="1200" dirty="0">
                <a:latin typeface="Arial" panose="020B0604020202020204" pitchFamily="34" charset="0"/>
                <a:cs typeface="Arial" panose="020B0604020202020204" pitchFamily="34" charset="0"/>
              </a:rPr>
              <a:t>L</a:t>
            </a:r>
            <a:r>
              <a:rPr lang="es-ES" sz="1200" dirty="0">
                <a:latin typeface="Arial" panose="020B0604020202020204" pitchFamily="34" charset="0"/>
                <a:cs typeface="Arial" panose="020B0604020202020204" pitchFamily="34" charset="0"/>
              </a:rPr>
              <a:t>os modos fundamentales TE0 y TM0 son los que presentan mejor confinamiento en el núcleo, mientras que los modos superiores quedan peor guiados al acercarse al índice de la cubierta.</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(neff changes this way with wavelength, comparison between different waveguide cross-sections …</a:t>
            </a:r>
            <a:r>
              <a:rPr lang="en-US" sz="1200" b="1" dirty="0" err="1">
                <a:latin typeface="Arial" panose="020B0604020202020204" pitchFamily="34" charset="0"/>
                <a:cs typeface="Arial" panose="020B0604020202020204" pitchFamily="34" charset="0"/>
              </a:rPr>
              <a:t>etc</a:t>
            </a:r>
            <a:r>
              <a:rPr lang="en-US" sz="1200" b="1"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s-ES" sz="1200" dirty="0">
                <a:latin typeface="Arial" panose="020B0604020202020204" pitchFamily="34" charset="0"/>
                <a:cs typeface="Arial" panose="020B0604020202020204" pitchFamily="34" charset="0"/>
              </a:rPr>
              <a:t>En las dos guías se ve que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disminuye cuando aumenta la longitud de onda. La tendencia es bastante suave y casi lineal en todo el rango de 1.5 a 1.6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s-ES" sz="1200" dirty="0">
                <a:latin typeface="Arial" panose="020B0604020202020204" pitchFamily="34" charset="0"/>
                <a:cs typeface="Arial" panose="020B0604020202020204" pitchFamily="34" charset="0"/>
              </a:rPr>
              <a:t>Comparando ambas secciones,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presenta valores de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ligeramente mayores que la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para todos los modos. Esto indica que la diferencia de geometría, en particular la presencia del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modifica el confinamiento del modo.</a:t>
            </a:r>
          </a:p>
          <a:p>
            <a:pPr marL="171450" indent="-171450" algn="just">
              <a:buFont typeface="Arial" panose="020B0604020202020204" pitchFamily="34" charset="0"/>
              <a:buChar char="•"/>
            </a:pPr>
            <a:r>
              <a:rPr lang="es-ES" sz="1200" dirty="0">
                <a:latin typeface="Arial" panose="020B0604020202020204" pitchFamily="34" charset="0"/>
                <a:cs typeface="Arial" panose="020B0604020202020204" pitchFamily="34" charset="0"/>
              </a:rPr>
              <a:t>En la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los modos superiores quedan más cerca del índice del SiO2, así que están peor guiados. En cambio, en la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todos los modos quedan por encima del índice de la cubierta y se mantienen mejor confinados en ese intervalo de longitudes de onda.</a:t>
            </a:r>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3C4E7A47-20E2-3C27-D841-5A665642F6E2}"/>
              </a:ext>
            </a:extLst>
          </p:cNvPr>
          <p:cNvSpPr txBox="1"/>
          <p:nvPr/>
        </p:nvSpPr>
        <p:spPr>
          <a:xfrm>
            <a:off x="2285455" y="2671278"/>
            <a:ext cx="1980542" cy="923330"/>
          </a:xfrm>
          <a:prstGeom prst="rect">
            <a:avLst/>
          </a:prstGeom>
          <a:noFill/>
        </p:spPr>
        <p:txBody>
          <a:bodyPr wrap="none" rtlCol="0">
            <a:spAutoFit/>
          </a:bodyPr>
          <a:lstStyle/>
          <a:p>
            <a:pPr algn="ctr"/>
            <a:r>
              <a:rPr lang="en-US" b="1" dirty="0"/>
              <a:t>shallow</a:t>
            </a:r>
            <a:r>
              <a:rPr lang="en-US" dirty="0"/>
              <a:t> waveguide</a:t>
            </a:r>
          </a:p>
          <a:p>
            <a:pPr algn="ctr"/>
            <a:endParaRPr lang="en-US" dirty="0"/>
          </a:p>
          <a:p>
            <a:pPr algn="ctr"/>
            <a:r>
              <a:rPr lang="en-US" dirty="0"/>
              <a:t>Paste plot here</a:t>
            </a:r>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8281672" y="2671278"/>
            <a:ext cx="1722908" cy="923330"/>
          </a:xfrm>
          <a:prstGeom prst="rect">
            <a:avLst/>
          </a:prstGeom>
          <a:noFill/>
        </p:spPr>
        <p:txBody>
          <a:bodyPr wrap="none" rtlCol="0">
            <a:spAutoFit/>
          </a:bodyPr>
          <a:lstStyle/>
          <a:p>
            <a:pPr algn="ctr"/>
            <a:r>
              <a:rPr lang="en-US" b="1" dirty="0"/>
              <a:t>deep</a:t>
            </a:r>
            <a:r>
              <a:rPr lang="en-US" dirty="0"/>
              <a:t> waveguide</a:t>
            </a:r>
          </a:p>
          <a:p>
            <a:pPr algn="ctr"/>
            <a:endParaRPr lang="en-US" dirty="0"/>
          </a:p>
          <a:p>
            <a:pPr algn="ctr"/>
            <a:r>
              <a:rPr lang="en-US" dirty="0"/>
              <a:t>Paste plot here</a:t>
            </a:r>
          </a:p>
        </p:txBody>
      </p:sp>
      <p:sp>
        <p:nvSpPr>
          <p:cNvPr id="9" name="CuadroTexto 8">
            <a:extLst>
              <a:ext uri="{FF2B5EF4-FFF2-40B4-BE49-F238E27FC236}">
                <a16:creationId xmlns:a16="http://schemas.microsoft.com/office/drawing/2014/main" id="{8BD4C233-B5D9-B6AA-93A8-CF2F130CFF9C}"/>
              </a:ext>
            </a:extLst>
          </p:cNvPr>
          <p:cNvSpPr txBox="1"/>
          <p:nvPr/>
        </p:nvSpPr>
        <p:spPr>
          <a:xfrm>
            <a:off x="642989" y="4402885"/>
            <a:ext cx="2269787" cy="369332"/>
          </a:xfrm>
          <a:prstGeom prst="rect">
            <a:avLst/>
          </a:prstGeom>
          <a:noFill/>
        </p:spPr>
        <p:txBody>
          <a:bodyPr wrap="square">
            <a:spAutoFit/>
          </a:bodyPr>
          <a:lstStyle/>
          <a:p>
            <a:r>
              <a:rPr lang="en-US"/>
              <a:t>slab </a:t>
            </a:r>
            <a:r>
              <a:rPr lang="en-US" dirty="0"/>
              <a:t>= 150nm</a:t>
            </a:r>
            <a:endParaRPr lang="es-ES" dirty="0"/>
          </a:p>
        </p:txBody>
      </p:sp>
      <p:pic>
        <p:nvPicPr>
          <p:cNvPr id="10" name="Imagen 9" descr="Gráfico, Gráfico de líneas&#10;&#10;El contenido generado por IA puede ser incorrecto.">
            <a:extLst>
              <a:ext uri="{FF2B5EF4-FFF2-40B4-BE49-F238E27FC236}">
                <a16:creationId xmlns:a16="http://schemas.microsoft.com/office/drawing/2014/main" id="{4DD46900-1980-8CD1-854E-CAD64FA1715F}"/>
              </a:ext>
            </a:extLst>
          </p:cNvPr>
          <p:cNvPicPr>
            <a:picLocks noChangeAspect="1"/>
          </p:cNvPicPr>
          <p:nvPr/>
        </p:nvPicPr>
        <p:blipFill>
          <a:blip r:embed="rId5"/>
          <a:stretch>
            <a:fillRect/>
          </a:stretch>
        </p:blipFill>
        <p:spPr>
          <a:xfrm>
            <a:off x="6537030" y="1513053"/>
            <a:ext cx="5143180" cy="3000188"/>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8B3C3A16-0C41-9DB9-7293-2AAED7651BA2}"/>
              </a:ext>
            </a:extLst>
          </p:cNvPr>
          <p:cNvPicPr>
            <a:picLocks noChangeAspect="1"/>
          </p:cNvPicPr>
          <p:nvPr/>
        </p:nvPicPr>
        <p:blipFill>
          <a:blip r:embed="rId6"/>
          <a:stretch>
            <a:fillRect/>
          </a:stretch>
        </p:blipFill>
        <p:spPr>
          <a:xfrm>
            <a:off x="685800" y="1536200"/>
            <a:ext cx="5082411" cy="2964740"/>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(neff changes this way with width, polarization behavior, </a:t>
            </a:r>
            <a:r>
              <a:rPr lang="en-US" sz="1200" b="1" dirty="0" err="1">
                <a:latin typeface="Arial" panose="020B0604020202020204" pitchFamily="34" charset="0"/>
                <a:cs typeface="Arial" panose="020B0604020202020204" pitchFamily="34" charset="0"/>
              </a:rPr>
              <a:t>etc</a:t>
            </a:r>
            <a:r>
              <a:rPr lang="en-US" sz="1200" b="1"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s-ES" sz="1200" noProof="0" dirty="0">
                <a:latin typeface="Arial" panose="020B0604020202020204" pitchFamily="34" charset="0"/>
                <a:cs typeface="Arial" panose="020B0604020202020204" pitchFamily="34" charset="0"/>
              </a:rPr>
              <a:t>Al aumentar el ancho de la guía, aumenta también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en todos los modos. Esto indica que el campo queda más confinado en el núcleo cuando la guía es más ancha.</a:t>
            </a:r>
          </a:p>
          <a:p>
            <a:pPr marL="171450" indent="-171450" algn="just">
              <a:buFont typeface="Arial" panose="020B0604020202020204" pitchFamily="34" charset="0"/>
              <a:buChar char="•"/>
            </a:pPr>
            <a:r>
              <a:rPr lang="es-ES" sz="1200" noProof="0" dirty="0">
                <a:latin typeface="Arial" panose="020B0604020202020204" pitchFamily="34" charset="0"/>
                <a:cs typeface="Arial" panose="020B0604020202020204" pitchFamily="34" charset="0"/>
              </a:rPr>
              <a:t>También se ve que los modos superiores se guían mejor a medida que crece el ancho. Para anchos pequeños algunos modos quedan muy cerca del índice del SIO2, pero al aumentar el ancho se separan más de la cubierta y pasan a estar mejor confinados.</a:t>
            </a:r>
          </a:p>
          <a:p>
            <a:pPr marL="171450" indent="-171450" algn="just">
              <a:buFont typeface="Arial" panose="020B0604020202020204" pitchFamily="34" charset="0"/>
              <a:buChar char="•"/>
            </a:pPr>
            <a:r>
              <a:rPr lang="es-ES" sz="1200" noProof="0" dirty="0">
                <a:latin typeface="Arial" panose="020B0604020202020204" pitchFamily="34" charset="0"/>
                <a:cs typeface="Arial" panose="020B0604020202020204" pitchFamily="34" charset="0"/>
              </a:rPr>
              <a:t>En cuanto a la polarización, el color muestra la fracción TE de cada modo. Se observa que algunos modos son claramente más TE que otros, así que no solo cambia el valor de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con el ancho, sino también el carácter modal de la guía.</a:t>
            </a: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pic>
        <p:nvPicPr>
          <p:cNvPr id="5" name="Imagen 4" descr="Gráfico, Gráfico de líneas&#10;&#10;El contenido generado por IA puede ser incorrecto.">
            <a:extLst>
              <a:ext uri="{FF2B5EF4-FFF2-40B4-BE49-F238E27FC236}">
                <a16:creationId xmlns:a16="http://schemas.microsoft.com/office/drawing/2014/main" id="{43B2A1FB-9189-C3C2-4CB4-DE022DEC6F67}"/>
              </a:ext>
            </a:extLst>
          </p:cNvPr>
          <p:cNvPicPr>
            <a:picLocks noChangeAspect="1"/>
          </p:cNvPicPr>
          <p:nvPr/>
        </p:nvPicPr>
        <p:blipFill>
          <a:blip r:embed="rId5"/>
          <a:stretch>
            <a:fillRect/>
          </a:stretch>
        </p:blipFill>
        <p:spPr>
          <a:xfrm>
            <a:off x="3901440" y="1496632"/>
            <a:ext cx="5410200" cy="3149509"/>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147873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1" i="1" smtClean="0">
                            <a:latin typeface="Cambria Math" panose="02040503050406030204" pitchFamily="18" charset="0"/>
                            <a:cs typeface="Arial" panose="020B0604020202020204" pitchFamily="34" charset="0"/>
                          </a:rPr>
                        </m:ctrlPr>
                      </m:dPr>
                      <m:e>
                        <m:eqArr>
                          <m:eqArrPr>
                            <m:ctrlPr>
                              <a:rPr lang="es-ES" sz="1200" b="1" i="1" smtClean="0">
                                <a:latin typeface="Cambria Math" panose="02040503050406030204" pitchFamily="18" charset="0"/>
                                <a:cs typeface="Arial" panose="020B0604020202020204" pitchFamily="34" charset="0"/>
                              </a:rPr>
                            </m:ctrlPr>
                          </m:eqArrPr>
                          <m:e>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𝒆𝒇𝒇</m:t>
                                </m:r>
                              </m:sub>
                            </m:sSub>
                            <m:r>
                              <a:rPr lang="es-ES" sz="1200" b="1" i="1" smtClean="0">
                                <a:latin typeface="Cambria Math" panose="02040503050406030204" pitchFamily="18" charset="0"/>
                                <a:cs typeface="Arial" panose="020B0604020202020204" pitchFamily="34" charset="0"/>
                              </a:rPr>
                              <m:t>=</m:t>
                            </m:r>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𝟏</m:t>
                                </m:r>
                              </m:sub>
                            </m:sSub>
                          </m:e>
                          <m:e>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𝒈</m:t>
                                </m:r>
                              </m:sub>
                            </m:sSub>
                            <m:r>
                              <a:rPr lang="es-ES" sz="1200" b="1" i="1" smtClean="0">
                                <a:latin typeface="Cambria Math" panose="02040503050406030204" pitchFamily="18" charset="0"/>
                                <a:cs typeface="Arial" panose="020B0604020202020204" pitchFamily="34" charset="0"/>
                              </a:rPr>
                              <m:t>=</m:t>
                            </m:r>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𝟏</m:t>
                                </m:r>
                              </m:sub>
                            </m:sSub>
                            <m:r>
                              <a:rPr lang="es-ES" sz="1200" b="1" i="1" smtClean="0">
                                <a:latin typeface="Cambria Math" panose="02040503050406030204" pitchFamily="18" charset="0"/>
                                <a:cs typeface="Arial" panose="020B0604020202020204" pitchFamily="34" charset="0"/>
                              </a:rPr>
                              <m:t>−</m:t>
                            </m:r>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𝟐</m:t>
                                </m:r>
                              </m:sub>
                            </m:sSub>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𝝀</m:t>
                                </m:r>
                              </m:e>
                              <m:sub>
                                <m:r>
                                  <a:rPr lang="es-ES" sz="1200" b="1" i="1" smtClean="0">
                                    <a:latin typeface="Cambria Math" panose="02040503050406030204" pitchFamily="18" charset="0"/>
                                    <a:cs typeface="Arial" panose="020B0604020202020204" pitchFamily="34" charset="0"/>
                                  </a:rPr>
                                  <m:t>𝟎</m:t>
                                </m:r>
                              </m:sub>
                            </m:sSub>
                          </m:e>
                          <m:e>
                            <m:r>
                              <a:rPr lang="es-ES" sz="1200" b="1" i="1" smtClean="0">
                                <a:latin typeface="Cambria Math" panose="02040503050406030204" pitchFamily="18" charset="0"/>
                                <a:cs typeface="Arial" panose="020B0604020202020204" pitchFamily="34" charset="0"/>
                              </a:rPr>
                              <m:t>𝑫</m:t>
                            </m:r>
                            <m:r>
                              <a:rPr lang="es-ES" sz="1200" b="1" i="1" smtClean="0">
                                <a:latin typeface="Cambria Math" panose="02040503050406030204" pitchFamily="18" charset="0"/>
                                <a:cs typeface="Arial" panose="020B0604020202020204" pitchFamily="34" charset="0"/>
                              </a:rPr>
                              <m:t>=−</m:t>
                            </m:r>
                            <m:f>
                              <m:fPr>
                                <m:ctrlPr>
                                  <a:rPr lang="es-ES" sz="1200" b="1" i="1" smtClean="0">
                                    <a:latin typeface="Cambria Math" panose="02040503050406030204" pitchFamily="18" charset="0"/>
                                    <a:cs typeface="Arial" panose="020B0604020202020204" pitchFamily="34" charset="0"/>
                                  </a:rPr>
                                </m:ctrlPr>
                              </m:fPr>
                              <m:num>
                                <m:r>
                                  <a:rPr lang="es-ES" sz="1200" b="1" i="1" smtClean="0">
                                    <a:latin typeface="Cambria Math" panose="02040503050406030204" pitchFamily="18" charset="0"/>
                                    <a:cs typeface="Arial" panose="020B0604020202020204" pitchFamily="34" charset="0"/>
                                  </a:rPr>
                                  <m:t>𝟐</m:t>
                                </m:r>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𝝀</m:t>
                                    </m:r>
                                  </m:e>
                                  <m:sub>
                                    <m:r>
                                      <a:rPr lang="es-ES" sz="1200" b="1" i="1" smtClean="0">
                                        <a:latin typeface="Cambria Math" panose="02040503050406030204" pitchFamily="18" charset="0"/>
                                        <a:cs typeface="Arial" panose="020B0604020202020204" pitchFamily="34" charset="0"/>
                                      </a:rPr>
                                      <m:t>𝟎</m:t>
                                    </m:r>
                                  </m:sub>
                                </m:sSub>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𝟑</m:t>
                                    </m:r>
                                  </m:sub>
                                </m:sSub>
                              </m:num>
                              <m:den>
                                <m:r>
                                  <a:rPr lang="es-ES" sz="1200" b="1" i="1" smtClean="0">
                                    <a:latin typeface="Cambria Math" panose="02040503050406030204" pitchFamily="18" charset="0"/>
                                    <a:cs typeface="Arial" panose="020B0604020202020204" pitchFamily="34" charset="0"/>
                                  </a:rPr>
                                  <m:t>𝒄</m:t>
                                </m:r>
                              </m:den>
                            </m:f>
                            <m:d>
                              <m:dPr>
                                <m:begChr m:val="["/>
                                <m:endChr m:val="]"/>
                                <m:ctrlPr>
                                  <a:rPr lang="es-ES" sz="1200" b="1" i="1" smtClean="0">
                                    <a:latin typeface="Cambria Math" panose="02040503050406030204" pitchFamily="18" charset="0"/>
                                    <a:cs typeface="Arial" panose="020B0604020202020204" pitchFamily="34" charset="0"/>
                                  </a:rPr>
                                </m:ctrlPr>
                              </m:dPr>
                              <m:e>
                                <m:f>
                                  <m:fPr>
                                    <m:ctrlPr>
                                      <a:rPr lang="es-ES" sz="1200" b="1" i="1" smtClean="0">
                                        <a:latin typeface="Cambria Math" panose="02040503050406030204" pitchFamily="18" charset="0"/>
                                        <a:cs typeface="Arial" panose="020B0604020202020204" pitchFamily="34" charset="0"/>
                                      </a:rPr>
                                    </m:ctrlPr>
                                  </m:fPr>
                                  <m:num>
                                    <m:sSup>
                                      <m:sSupPr>
                                        <m:ctrlPr>
                                          <a:rPr lang="es-ES" sz="1200" b="1" i="1" smtClean="0">
                                            <a:latin typeface="Cambria Math" panose="02040503050406030204" pitchFamily="18" charset="0"/>
                                            <a:cs typeface="Arial" panose="020B0604020202020204" pitchFamily="34" charset="0"/>
                                          </a:rPr>
                                        </m:ctrlPr>
                                      </m:sSupPr>
                                      <m:e>
                                        <m:r>
                                          <a:rPr lang="es-ES" sz="1200" b="1" i="1" smtClean="0">
                                            <a:latin typeface="Cambria Math" panose="02040503050406030204" pitchFamily="18" charset="0"/>
                                            <a:cs typeface="Arial" panose="020B0604020202020204" pitchFamily="34" charset="0"/>
                                          </a:rPr>
                                          <m:t>𝒔</m:t>
                                        </m:r>
                                      </m:e>
                                      <m:sup>
                                        <m:r>
                                          <a:rPr lang="es-ES" sz="1200" b="1" i="1" smtClean="0">
                                            <a:latin typeface="Cambria Math" panose="02040503050406030204" pitchFamily="18" charset="0"/>
                                            <a:cs typeface="Arial" panose="020B0604020202020204" pitchFamily="34" charset="0"/>
                                          </a:rPr>
                                          <m:t>𝟐</m:t>
                                        </m:r>
                                      </m:sup>
                                    </m:sSup>
                                  </m:num>
                                  <m:den>
                                    <m:r>
                                      <a:rPr lang="es-ES" sz="1200" b="1" i="1" smtClean="0">
                                        <a:latin typeface="Cambria Math" panose="02040503050406030204" pitchFamily="18" charset="0"/>
                                        <a:cs typeface="Arial" panose="020B0604020202020204" pitchFamily="34" charset="0"/>
                                      </a:rPr>
                                      <m:t>𝒎</m:t>
                                    </m:r>
                                  </m:den>
                                </m:f>
                              </m:e>
                            </m:d>
                          </m:e>
                        </m:eqArr>
                      </m:e>
                    </m:d>
                  </m:oMath>
                </a14:m>
                <a:endParaRPr lang="es-ES" sz="1200" b="1" dirty="0">
                  <a:latin typeface="Arial" panose="020B0604020202020204" pitchFamily="34" charset="0"/>
                  <a:cs typeface="Arial" panose="020B0604020202020204" pitchFamily="34" charset="0"/>
                </a:endParaRPr>
              </a:p>
              <a:p>
                <a:pPr algn="just"/>
                <a:r>
                  <a:rPr lang="en-US" sz="1200" b="1" dirty="0">
                    <a:latin typeface="Arial" panose="020B0604020202020204" pitchFamily="34" charset="0"/>
                    <a:cs typeface="Arial" panose="020B0604020202020204" pitchFamily="34" charset="0"/>
                  </a:rPr>
                  <a:t> </a:t>
                </a:r>
              </a:p>
              <a:p>
                <a:pPr algn="just"/>
                <a:r>
                  <a:rPr lang="en-US" sz="1200" b="1" dirty="0">
                    <a:latin typeface="Arial" panose="020B0604020202020204" pitchFamily="34" charset="0"/>
                    <a:cs typeface="Arial" panose="020B0604020202020204" pitchFamily="34" charset="0"/>
                  </a:rPr>
                  <a:t>Comment on the results found for the TE0 and TM0 for both deep and shallow waveguides. </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860334"/>
                <a:ext cx="11198542" cy="1478738"/>
              </a:xfrm>
              <a:prstGeom prst="rect">
                <a:avLst/>
              </a:prstGeom>
              <a:blipFill>
                <a:blip r:embed="rId5"/>
                <a:stretch>
                  <a:fillRect/>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609440" y="2709096"/>
                <a:ext cx="5486559"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b="1" dirty="0"/>
                  <a:t>neff_TE0 vs </a:t>
                </a:r>
                <a14:m>
                  <m:oMath xmlns:m="http://schemas.openxmlformats.org/officeDocument/2006/math">
                    <m:r>
                      <a:rPr lang="es-ES" b="1" i="1" smtClean="0">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609440" y="2709096"/>
                <a:ext cx="5486559" cy="1200329"/>
              </a:xfrm>
              <a:prstGeom prst="rect">
                <a:avLst/>
              </a:prstGeom>
              <a:blipFill>
                <a:blip r:embed="rId7"/>
                <a:stretch>
                  <a:fillRect t="-2538" r="-556" b="-710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b="1" dirty="0"/>
                  <a:t>neff_TE0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200329"/>
              </a:xfrm>
              <a:prstGeom prst="rect">
                <a:avLst/>
              </a:prstGeom>
              <a:blipFill>
                <a:blip r:embed="rId8"/>
                <a:stretch>
                  <a:fillRect t="-2538" r="-556" b="-7107"/>
                </a:stretch>
              </a:blipFill>
            </p:spPr>
            <p:txBody>
              <a:bodyPr/>
              <a:lstStyle/>
              <a:p>
                <a:r>
                  <a:rPr lang="es-E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pic>
        <p:nvPicPr>
          <p:cNvPr id="11" name="Imagen 10">
            <a:extLst>
              <a:ext uri="{FF2B5EF4-FFF2-40B4-BE49-F238E27FC236}">
                <a16:creationId xmlns:a16="http://schemas.microsoft.com/office/drawing/2014/main" id="{B9237E19-5946-540E-DB76-1FCEC9593B92}"/>
              </a:ext>
            </a:extLst>
          </p:cNvPr>
          <p:cNvPicPr>
            <a:picLocks noChangeAspect="1"/>
          </p:cNvPicPr>
          <p:nvPr/>
        </p:nvPicPr>
        <p:blipFill>
          <a:blip r:embed="rId9"/>
          <a:stretch>
            <a:fillRect/>
          </a:stretch>
        </p:blipFill>
        <p:spPr>
          <a:xfrm>
            <a:off x="701037" y="1547610"/>
            <a:ext cx="5339080" cy="2934933"/>
          </a:xfrm>
          <a:prstGeom prst="rect">
            <a:avLst/>
          </a:prstGeom>
        </p:spPr>
      </p:pic>
      <p:pic>
        <p:nvPicPr>
          <p:cNvPr id="14" name="Imagen 13">
            <a:extLst>
              <a:ext uri="{FF2B5EF4-FFF2-40B4-BE49-F238E27FC236}">
                <a16:creationId xmlns:a16="http://schemas.microsoft.com/office/drawing/2014/main" id="{A36F3AC6-2F4A-92F7-64ED-90083AC32784}"/>
              </a:ext>
            </a:extLst>
          </p:cNvPr>
          <p:cNvPicPr>
            <a:picLocks noChangeAspect="1"/>
          </p:cNvPicPr>
          <p:nvPr/>
        </p:nvPicPr>
        <p:blipFill>
          <a:blip r:embed="rId10"/>
          <a:stretch>
            <a:fillRect/>
          </a:stretch>
        </p:blipFill>
        <p:spPr>
          <a:xfrm>
            <a:off x="6473023" y="1786382"/>
            <a:ext cx="5242747" cy="2881978"/>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D59C5-FBC3-0FF4-1B12-97CD17CE990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64E4F01-A114-20B5-1CDE-10C8FF73920D}"/>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C216645F-71E2-FBBF-FB62-230B75925D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FFB3D58-ED0E-39B4-6D91-E35FD3DE1511}"/>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461F4473-B3C2-1E0B-9D4C-A7F4A0C402BD}"/>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6587A331-6AEE-7432-20AB-A5026082703E}"/>
              </a:ext>
            </a:extLst>
          </p:cNvPr>
          <p:cNvSpPr txBox="1"/>
          <p:nvPr/>
        </p:nvSpPr>
        <p:spPr>
          <a:xfrm>
            <a:off x="583734" y="1600200"/>
            <a:ext cx="11198542" cy="2308324"/>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este apartado hemos construido el modelo compacto a partir de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(lambda), que es relevante porque la propagación en la guía viene dada por la función de transferencia y su parte de fase depende de beta, y beta depende directamente de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Al hacer el ajuste alrededor de lambda0 = 1.55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el valor de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en ese punto es precisamente n1, así que n1 nos da directamente el índice efectivo en la longitud de onda central. Además, n2 marca la pendiente de la variación con lambda y n3 recoge la curvatura, que es la que después se relaciona con la dispersión.</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Comparando resultados, TE0 tiene siempre un n mayor que TM0, tanto 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como en la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así que es el modo mejor confinado en ambos casos. También se observa que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presenta valores de n ligeramente superiores a la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para los dos modos, por lo que la diferencia geométrica entre ambas secciones sí modifica la propagación y el confinamiento del campo.</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los cuatro casos n2 es negativo, así que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disminuye al aumentar la longitud de onda, en coherencia con LO2. Además, ng resulta mayor que n en todos los casos, mientras que D sale negativo siempre y con mayor valor absoluto en TM0 que en TE0, por lo que TM0 es el modo más dispersivo. En conjunto, el ajuste representa bien los puntos simulados y permite comparar de forma clara los modos TE0 y TM0 en las guías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2548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which is the safe radius?, consider safe means less than 0.1 dB/90º</a:t>
            </a:r>
            <a:endParaRPr lang="es-ES" sz="1200" b="1"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La pérdida total disminuye al aumentar el radio de curvatura, porque una curva más suave introduce menos desajuste entre la guía recta y la curvada. Como hemos visto en teoría, en una guía curvada el modo se desplaza hacia la parte exterior de la curva y eso puede aumentar las pérdidas por </a:t>
            </a:r>
            <a:r>
              <a:rPr lang="es-ES" sz="1200" dirty="0" err="1">
                <a:latin typeface="Arial" panose="020B0604020202020204" pitchFamily="34" charset="0"/>
                <a:cs typeface="Arial" panose="020B0604020202020204" pitchFamily="34" charset="0"/>
              </a:rPr>
              <a:t>mismatch</a:t>
            </a:r>
            <a:r>
              <a:rPr lang="es-ES" sz="1200" dirty="0">
                <a:latin typeface="Arial" panose="020B0604020202020204" pitchFamily="34" charset="0"/>
                <a:cs typeface="Arial" panose="020B0604020202020204" pitchFamily="34" charset="0"/>
              </a:rPr>
              <a:t> en la transición recta-curva. En nuestros resultados R = 25 µm no es seguro porque supera 0.1 dB/90º, mientras que desde R = 50 µm la pérdida total ya queda por debajo de ese valor. Por tanto, el </a:t>
            </a:r>
            <a:r>
              <a:rPr lang="es-ES" sz="1200" dirty="0" err="1">
                <a:latin typeface="Arial" panose="020B0604020202020204" pitchFamily="34" charset="0"/>
                <a:cs typeface="Arial" panose="020B0604020202020204" pitchFamily="34" charset="0"/>
              </a:rPr>
              <a:t>safe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radius</a:t>
            </a:r>
            <a:r>
              <a:rPr lang="es-ES" sz="1200" dirty="0">
                <a:latin typeface="Arial" panose="020B0604020202020204" pitchFamily="34" charset="0"/>
                <a:cs typeface="Arial" panose="020B0604020202020204" pitchFamily="34" charset="0"/>
              </a:rPr>
              <a:t> es 50 µm. Además, neff_TE0 varía más para radios pequeños y después se estabiliza, así que las curvas cerradas afectan más al modo que las curvas grandes.</a:t>
            </a:r>
            <a:endParaRPr lang="en-US" sz="1200" dirty="0">
              <a:latin typeface="Arial" panose="020B0604020202020204" pitchFamily="34" charset="0"/>
              <a:cs typeface="Arial" panose="020B0604020202020204" pitchFamily="34" charset="0"/>
            </a:endParaRPr>
          </a:p>
          <a:p>
            <a:pPr algn="just"/>
            <a:endParaRPr lang="en-US" sz="1200" u="sng"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Total Loss (dB/90º) vs R &amp; neff_TE0 vs R</a:t>
            </a:r>
          </a:p>
        </p:txBody>
      </p:sp>
      <p:pic>
        <p:nvPicPr>
          <p:cNvPr id="5" name="Imagen 4">
            <a:extLst>
              <a:ext uri="{FF2B5EF4-FFF2-40B4-BE49-F238E27FC236}">
                <a16:creationId xmlns:a16="http://schemas.microsoft.com/office/drawing/2014/main" id="{6EF9C501-C582-C2B4-0E61-FC1F40E92975}"/>
              </a:ext>
            </a:extLst>
          </p:cNvPr>
          <p:cNvPicPr>
            <a:picLocks noChangeAspect="1"/>
          </p:cNvPicPr>
          <p:nvPr/>
        </p:nvPicPr>
        <p:blipFill>
          <a:blip r:embed="rId5"/>
          <a:stretch>
            <a:fillRect/>
          </a:stretch>
        </p:blipFill>
        <p:spPr>
          <a:xfrm>
            <a:off x="634048" y="1541893"/>
            <a:ext cx="5548957" cy="3050303"/>
          </a:xfrm>
          <a:prstGeom prst="rect">
            <a:avLst/>
          </a:prstGeom>
        </p:spPr>
      </p:pic>
      <p:pic>
        <p:nvPicPr>
          <p:cNvPr id="9" name="Imagen 8">
            <a:extLst>
              <a:ext uri="{FF2B5EF4-FFF2-40B4-BE49-F238E27FC236}">
                <a16:creationId xmlns:a16="http://schemas.microsoft.com/office/drawing/2014/main" id="{E7798CAC-B41A-312E-8757-C99E11F51799}"/>
              </a:ext>
            </a:extLst>
          </p:cNvPr>
          <p:cNvPicPr>
            <a:picLocks noChangeAspect="1"/>
          </p:cNvPicPr>
          <p:nvPr/>
        </p:nvPicPr>
        <p:blipFill>
          <a:blip r:embed="rId6"/>
          <a:stretch>
            <a:fillRect/>
          </a:stretch>
        </p:blipFill>
        <p:spPr>
          <a:xfrm>
            <a:off x="6183005" y="1554709"/>
            <a:ext cx="5618164" cy="3024670"/>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36354-732D-45BB-61B1-BD7B973D14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ABE07EF-84A8-DC96-A090-AA53ADB479D9}"/>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1</a:t>
            </a:r>
            <a:endParaRPr lang="en-US" sz="2500" b="0" dirty="0">
              <a:latin typeface="+mj-lt"/>
              <a:cs typeface="Lucida Sans"/>
            </a:endParaRPr>
          </a:p>
        </p:txBody>
      </p:sp>
      <p:pic>
        <p:nvPicPr>
          <p:cNvPr id="83" name="Gráfico 82">
            <a:extLst>
              <a:ext uri="{FF2B5EF4-FFF2-40B4-BE49-F238E27FC236}">
                <a16:creationId xmlns:a16="http://schemas.microsoft.com/office/drawing/2014/main" id="{2DD9C130-1A6A-EDAF-D0A8-AE339F4203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956E172-4CC2-AEA9-14C4-B6455016DA85}"/>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8989475A-7106-C333-CAF3-24C9572E4BC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23D724CB-E3A1-0B12-37FE-A325A1D3C438}"/>
              </a:ext>
            </a:extLst>
          </p:cNvPr>
          <p:cNvSpPr txBox="1"/>
          <p:nvPr/>
        </p:nvSpPr>
        <p:spPr>
          <a:xfrm>
            <a:off x="609441" y="4860334"/>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Para la guía SOI de 0.5 µm de ancho, se confirma el comportamiento dispersivo esperado: el índice efectivo (</a:t>
            </a:r>
            <a:r>
              <a:rPr lang="es-ES" sz="1200" dirty="0" err="1">
                <a:latin typeface="Arial" panose="020B0604020202020204" pitchFamily="34" charset="0"/>
                <a:cs typeface="Arial" panose="020B0604020202020204" pitchFamily="34" charset="0"/>
              </a:rPr>
              <a:t>n_eff</a:t>
            </a:r>
            <a:r>
              <a:rPr lang="es-ES" sz="1200" dirty="0">
                <a:latin typeface="Arial" panose="020B0604020202020204" pitchFamily="34" charset="0"/>
                <a:cs typeface="Arial" panose="020B0604020202020204" pitchFamily="34" charset="0"/>
              </a:rPr>
              <a:t>) de los modos guiados presenta un decaimiento lineal y monótono al incrementar la longitud de onda dentro de la ventana de operación evaluada (1.50 a 1.60 µm).</a:t>
            </a:r>
          </a:p>
          <a:p>
            <a:pPr algn="just"/>
            <a:endParaRPr lang="es-E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6CB24D1-A781-6B22-CD3E-63AC1E4D166F}"/>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587C14A2-D274-5800-93D4-25235A2BB327}"/>
              </a:ext>
            </a:extLst>
          </p:cNvPr>
          <p:cNvPicPr>
            <a:picLocks noChangeAspect="1"/>
          </p:cNvPicPr>
          <p:nvPr/>
        </p:nvPicPr>
        <p:blipFill>
          <a:blip r:embed="rId5"/>
          <a:stretch>
            <a:fillRect/>
          </a:stretch>
        </p:blipFill>
        <p:spPr>
          <a:xfrm>
            <a:off x="3352800" y="1600200"/>
            <a:ext cx="5228635" cy="3050037"/>
          </a:xfrm>
          <a:prstGeom prst="rect">
            <a:avLst/>
          </a:prstGeom>
        </p:spPr>
      </p:pic>
    </p:spTree>
    <p:extLst>
      <p:ext uri="{BB962C8B-B14F-4D97-AF65-F5344CB8AC3E}">
        <p14:creationId xmlns:p14="http://schemas.microsoft.com/office/powerpoint/2010/main" val="223640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44720-03C6-08DD-622A-A44B70E1F83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6FA894E-B661-537A-504A-BDEB1F3931B0}"/>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EXTRA 2</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E41A24FA-98D1-A9C2-7AE0-3E445931A7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0963648-3FDD-B5AD-49BE-E8FE57C79E48}"/>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D75BEF26-ECB3-1CC9-7505-65A56FA93AE8}"/>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A5DD4631-3CC2-C983-7752-0029732E4B1C}"/>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El barrido transversal a la longitud de onda de 1550 nm refleja el fuerte confinamiento geométrico de la estructura SOI. El aumento en el ancho del núcleo se traduce en un incremento directo del </a:t>
            </a:r>
            <a:r>
              <a:rPr lang="es-ES" sz="1200" dirty="0" err="1">
                <a:latin typeface="Arial" panose="020B0604020202020204" pitchFamily="34" charset="0"/>
                <a:cs typeface="Arial" panose="020B0604020202020204" pitchFamily="34" charset="0"/>
              </a:rPr>
              <a:t>n_eff</a:t>
            </a:r>
            <a:r>
              <a:rPr lang="es-ES" sz="1200" dirty="0">
                <a:latin typeface="Arial" panose="020B0604020202020204" pitchFamily="34" charset="0"/>
                <a:cs typeface="Arial" panose="020B0604020202020204" pitchFamily="34" charset="0"/>
              </a:rPr>
              <a:t>, lo cual altera significativamente la distribución modal y la fracción de polarización TE a medida que se flexibilizan las condiciones de corte y la guía </a:t>
            </a:r>
            <a:r>
              <a:rPr lang="es-ES" sz="1200" dirty="0" err="1">
                <a:latin typeface="Arial" panose="020B0604020202020204" pitchFamily="34" charset="0"/>
                <a:cs typeface="Arial" panose="020B0604020202020204" pitchFamily="34" charset="0"/>
              </a:rPr>
              <a:t>transiciona</a:t>
            </a:r>
            <a:r>
              <a:rPr lang="es-ES" sz="1200" dirty="0">
                <a:latin typeface="Arial" panose="020B0604020202020204" pitchFamily="34" charset="0"/>
                <a:cs typeface="Arial" panose="020B0604020202020204" pitchFamily="34" charset="0"/>
              </a:rPr>
              <a:t> hacia un régimen multimodo.</a:t>
            </a:r>
          </a:p>
          <a:p>
            <a:pPr algn="just"/>
            <a:endParaRPr lang="es-E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814D69E1-0576-9176-AC22-2F6E3CCA81CC}"/>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A06270D7-396B-1340-09D6-6729D1E7A02F}"/>
              </a:ext>
            </a:extLst>
          </p:cNvPr>
          <p:cNvPicPr>
            <a:picLocks noChangeAspect="1"/>
          </p:cNvPicPr>
          <p:nvPr/>
        </p:nvPicPr>
        <p:blipFill>
          <a:blip r:embed="rId5"/>
          <a:stretch>
            <a:fillRect/>
          </a:stretch>
        </p:blipFill>
        <p:spPr>
          <a:xfrm>
            <a:off x="3200400" y="1524000"/>
            <a:ext cx="5181600" cy="3016432"/>
          </a:xfrm>
          <a:prstGeom prst="rect">
            <a:avLst/>
          </a:prstGeom>
        </p:spPr>
      </p:pic>
    </p:spTree>
    <p:extLst>
      <p:ext uri="{BB962C8B-B14F-4D97-AF65-F5344CB8AC3E}">
        <p14:creationId xmlns:p14="http://schemas.microsoft.com/office/powerpoint/2010/main" val="2435974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754D6-26E4-7255-828D-C599E70232D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1FFC274-0D04-3B44-98F9-DD5A0BF9339A}"/>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EXTRA 3</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E975ADD4-7349-89D6-4AE4-8D74422C7E8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CC00C0-BC6F-A57D-6251-5042A4F4650B}"/>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AA290CFA-B5DB-EC4D-CAA8-501A6CFF86D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4098934C-1F98-8BE0-1B0E-B02B0152F1C1}"/>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La caracterización de las pérdidas por curvatura (</a:t>
            </a:r>
            <a:r>
              <a:rPr lang="es-ES" sz="1200" dirty="0" err="1">
                <a:latin typeface="Arial" panose="020B0604020202020204" pitchFamily="34" charset="0"/>
                <a:cs typeface="Arial" panose="020B0604020202020204" pitchFamily="34" charset="0"/>
              </a:rPr>
              <a:t>bend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para la polarización TE evidencia una caída rápida de las pérdidas totales frente al aumento del radio de curvatura. El comportamiento modal se estabiliza de forma abrupta, garantizando un régimen de operación óptimo y manteniéndose holgadamente por debajo del umbral de seguridad de 0.01 dB/90º para radios superiores a los 5 µm .</a:t>
            </a:r>
          </a:p>
          <a:p>
            <a:pPr algn="just"/>
            <a:endParaRPr lang="es-E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7386435E-8013-7737-04C3-944483391F09}"/>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Imagen 11">
            <a:extLst>
              <a:ext uri="{FF2B5EF4-FFF2-40B4-BE49-F238E27FC236}">
                <a16:creationId xmlns:a16="http://schemas.microsoft.com/office/drawing/2014/main" id="{4465506B-FEC5-3103-A036-AAE4BDE6179C}"/>
              </a:ext>
            </a:extLst>
          </p:cNvPr>
          <p:cNvPicPr>
            <a:picLocks noChangeAspect="1"/>
          </p:cNvPicPr>
          <p:nvPr/>
        </p:nvPicPr>
        <p:blipFill>
          <a:blip r:embed="rId5"/>
          <a:stretch>
            <a:fillRect/>
          </a:stretch>
        </p:blipFill>
        <p:spPr>
          <a:xfrm>
            <a:off x="2819400" y="1647338"/>
            <a:ext cx="5510092" cy="3000861"/>
          </a:xfrm>
          <a:prstGeom prst="rect">
            <a:avLst/>
          </a:prstGeom>
        </p:spPr>
      </p:pic>
    </p:spTree>
    <p:extLst>
      <p:ext uri="{BB962C8B-B14F-4D97-AF65-F5344CB8AC3E}">
        <p14:creationId xmlns:p14="http://schemas.microsoft.com/office/powerpoint/2010/main" val="7945891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61F36-E3AB-3747-243A-712EE369594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73C34D0-F6F4-363E-A4ED-B21ECC8A8253}"/>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EXTRA 4</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8CFBF8A3-5E4A-E578-2B14-56307FA9AD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2B4AFDA-0025-C366-F371-067BA6F0DE3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ACB927E-E3E6-9C36-D311-BCEFA10FA10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B84CC6EB-5A9D-5692-3E0E-5082ACC5A8BA}"/>
              </a:ext>
            </a:extLst>
          </p:cNvPr>
          <p:cNvSpPr txBox="1"/>
          <p:nvPr/>
        </p:nvSpPr>
        <p:spPr>
          <a:xfrm>
            <a:off x="609441" y="4860334"/>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Al contrastar las plataformas SOI y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los resultados constatan el mayor contraste de índice intrínseco de la primera tecnología, lo que resulta en un </a:t>
            </a:r>
            <a:r>
              <a:rPr lang="es-ES" sz="1200" dirty="0" err="1">
                <a:latin typeface="Arial" panose="020B0604020202020204" pitchFamily="34" charset="0"/>
                <a:cs typeface="Arial" panose="020B0604020202020204" pitchFamily="34" charset="0"/>
              </a:rPr>
              <a:t>n_eff</a:t>
            </a:r>
            <a:r>
              <a:rPr lang="es-ES" sz="1200" dirty="0">
                <a:latin typeface="Arial" panose="020B0604020202020204" pitchFamily="34" charset="0"/>
                <a:cs typeface="Arial" panose="020B0604020202020204" pitchFamily="34" charset="0"/>
              </a:rPr>
              <a:t> notablemente superior (en torno a 2.4 frente al ~1.6 del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para el modo fundamental TE0. A pesar de esta diferencia en la capacidad de confinamiento, ambas plataformas exhiben la misma pendiente negativa de dispersión conforme aumenta la longitud de onda, coherente con sus respectivas propiedades materiales.</a:t>
            </a:r>
          </a:p>
          <a:p>
            <a:pPr algn="just"/>
            <a:endParaRPr lang="es-E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E36F2016-62C2-AD38-105E-8D62C17EC49B}"/>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D0099FB3-A8DA-6958-C63E-75ED0865F903}"/>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959462" y="1601850"/>
            <a:ext cx="5290331" cy="2939073"/>
          </a:xfrm>
          <a:prstGeom prst="rect">
            <a:avLst/>
          </a:prstGeom>
        </p:spPr>
      </p:pic>
    </p:spTree>
    <p:extLst>
      <p:ext uri="{BB962C8B-B14F-4D97-AF65-F5344CB8AC3E}">
        <p14:creationId xmlns:p14="http://schemas.microsoft.com/office/powerpoint/2010/main" val="1134658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13</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1294</TotalTime>
  <Words>1677</Words>
  <Application>Microsoft Office PowerPoint</Application>
  <PresentationFormat>Panorámica</PresentationFormat>
  <Paragraphs>126</Paragraphs>
  <Slides>13</Slides>
  <Notes>10</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13</vt:i4>
      </vt:variant>
    </vt:vector>
  </HeadingPairs>
  <TitlesOfParts>
    <vt:vector size="21"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EXTRA 1</vt:lpstr>
      <vt:lpstr>EXTRA 2 </vt:lpstr>
      <vt:lpstr>EXTRA 3 </vt:lpstr>
      <vt:lpstr>EXTRA 4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Pablo de Manuel Y Vicente</cp:lastModifiedBy>
  <cp:revision>25</cp:revision>
  <dcterms:created xsi:type="dcterms:W3CDTF">2025-01-27T02:46:57Z</dcterms:created>
  <dcterms:modified xsi:type="dcterms:W3CDTF">2026-03-14T18:10:16Z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