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2"/>
  </p:notesMasterIdLst>
  <p:handoutMasterIdLst>
    <p:handoutMasterId r:id="rId13"/>
  </p:handoutMasterIdLst>
  <p:sldIdLst>
    <p:sldId id="256" r:id="rId2"/>
    <p:sldId id="295" r:id="rId3"/>
    <p:sldId id="290" r:id="rId4"/>
    <p:sldId id="291" r:id="rId5"/>
    <p:sldId id="292" r:id="rId6"/>
    <p:sldId id="297" r:id="rId7"/>
    <p:sldId id="299" r:id="rId8"/>
    <p:sldId id="293" r:id="rId9"/>
    <p:sldId id="298" r:id="rId10"/>
    <p:sldId id="288" r:id="rId11"/>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669" autoAdjust="0"/>
  </p:normalViewPr>
  <p:slideViewPr>
    <p:cSldViewPr>
      <p:cViewPr varScale="1">
        <p:scale>
          <a:sx n="63" d="100"/>
          <a:sy n="63" d="100"/>
        </p:scale>
        <p:origin x="1160" y="56"/>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12/03/2026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12/03/2026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2589C-58F0-5A88-C882-7E92ABD59BE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614D66F-CB2B-D621-6EAC-AC364AF84E1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8A698F5-52F0-C12D-349F-3841C129A3C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49A28D2-5619-46C0-5E9B-F090B3CBDF70}"/>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6059845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29173827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3712D-062B-09DC-1D35-DE1C78F4B89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5B89BEE-E2E8-7260-2635-8E6DC5E4391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28A0B49-0BAC-A109-895B-C0D5BB678AA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C98A4B5-4AD3-4B91-D03A-53C86FA7DC96}"/>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343820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3.png"/><Relationship Id="rId7" Type="http://schemas.openxmlformats.org/officeDocument/2006/relationships/image" Target="NUL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png"/><Relationship Id="rId10" Type="http://schemas.openxmlformats.org/officeDocument/2006/relationships/image" Target="../media/image12.png"/><Relationship Id="rId4" Type="http://schemas.openxmlformats.org/officeDocument/2006/relationships/image" Target="../media/image4.sv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1.0. </a:t>
            </a:r>
            <a:r>
              <a:rPr lang="es-ES" sz="3200" b="1" dirty="0" err="1">
                <a:latin typeface="Lucida Sans"/>
                <a:cs typeface="Lucida Sans"/>
              </a:rPr>
              <a:t>Waveguides</a:t>
            </a:r>
            <a:endParaRPr sz="3200" dirty="0">
              <a:latin typeface="Lucida Sans"/>
              <a:cs typeface="Lucida Sans"/>
            </a:endParaRPr>
          </a:p>
        </p:txBody>
      </p:sp>
      <p:sp>
        <p:nvSpPr>
          <p:cNvPr id="4" name="object 4"/>
          <p:cNvSpPr txBox="1"/>
          <p:nvPr/>
        </p:nvSpPr>
        <p:spPr>
          <a:xfrm>
            <a:off x="2749676" y="5610250"/>
            <a:ext cx="8223124" cy="579646"/>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José Alberto Peña Cruz , Pablo de Manuel Vicente</a:t>
            </a:r>
          </a:p>
          <a:p>
            <a:pPr marL="12700">
              <a:lnSpc>
                <a:spcPct val="100000"/>
              </a:lnSpc>
              <a:spcBef>
                <a:spcPts val="100"/>
              </a:spcBef>
            </a:pPr>
            <a:r>
              <a:rPr lang="es-ES" spc="165" dirty="0" err="1">
                <a:latin typeface="Arial"/>
                <a:cs typeface="Arial"/>
              </a:rPr>
              <a:t>Group</a:t>
            </a:r>
            <a:r>
              <a:rPr lang="es-ES" spc="165" dirty="0">
                <a:latin typeface="Arial"/>
                <a:cs typeface="Arial"/>
              </a:rPr>
              <a:t>: B1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https://github.com/cccanvas-upv/cifoin-lab1.git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WAVEGUIDES_Student.ipynb</a:t>
            </a:r>
            <a:r>
              <a:rPr lang="en-US" kern="0" dirty="0">
                <a:solidFill>
                  <a:sysClr val="windowText" lastClr="000000"/>
                </a:solidFill>
              </a:rPr>
              <a:t> </a:t>
            </a:r>
          </a:p>
          <a:p>
            <a:pPr algn="just"/>
            <a:endParaRPr lang="en-US" sz="2000" b="1" i="1" u="sng"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endParaRPr sz="1400">
              <a:latin typeface="Calibri"/>
              <a:cs typeface="Calibri"/>
            </a:endParaRP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endParaRPr sz="1400">
              <a:latin typeface="Calibri"/>
              <a:cs typeface="Calibri"/>
            </a:endParaRP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dirty="0">
              <a:latin typeface="Times New Roman"/>
              <a:cs typeface="Times New Roman"/>
            </a:endParaRPr>
          </a:p>
          <a:p>
            <a:pPr marL="18415">
              <a:lnSpc>
                <a:spcPct val="100000"/>
              </a:lnSpc>
            </a:pPr>
            <a:r>
              <a:rPr lang="es-ES" sz="1600" b="1" spc="-10" dirty="0" err="1">
                <a:latin typeface="Calibri"/>
                <a:cs typeface="Calibri"/>
              </a:rPr>
              <a:t>Slab</a:t>
            </a:r>
            <a:endParaRPr sz="1600" dirty="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dirty="0" err="1">
                <a:latin typeface="Calibri"/>
                <a:cs typeface="Calibri"/>
              </a:rPr>
              <a:t>h_slab</a:t>
            </a:r>
            <a:endParaRPr sz="1400" dirty="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dirty="0" err="1">
                <a:latin typeface="Calibri"/>
                <a:cs typeface="Calibri"/>
              </a:rPr>
              <a:t>h_core</a:t>
            </a:r>
            <a:r>
              <a:rPr lang="es-ES" sz="1400" spc="-10" dirty="0">
                <a:latin typeface="Calibri"/>
                <a:cs typeface="Calibri"/>
              </a:rPr>
              <a:t> </a:t>
            </a:r>
            <a:endParaRPr sz="14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dirty="0"/>
              <a:t>shallow</a:t>
            </a:r>
            <a:r>
              <a:rPr lang="en-US" dirty="0"/>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dirty="0"/>
              <a:t>deep</a:t>
            </a:r>
            <a:r>
              <a:rPr lang="en-US" dirty="0"/>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Effective index of a waveguide</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materials, output, results.</a:t>
            </a:r>
          </a:p>
          <a:p>
            <a:pPr marL="342900" indent="-342900" algn="just">
              <a:buFont typeface="Arial" panose="020B0604020202020204" pitchFamily="34" charset="0"/>
              <a:buChar char="•"/>
            </a:pPr>
            <a:r>
              <a:rPr lang="en-US" sz="2000" dirty="0"/>
              <a:t>Explain how to run a simulation for a particular cross-section. </a:t>
            </a:r>
          </a:p>
          <a:p>
            <a:pPr marL="342900" indent="-342900" algn="just">
              <a:buFont typeface="Arial" panose="020B0604020202020204" pitchFamily="34" charset="0"/>
              <a:buChar char="•"/>
            </a:pPr>
            <a:r>
              <a:rPr lang="en-US" sz="2000" dirty="0"/>
              <a:t>Showcase how to change between shallow and deep waveguide.</a:t>
            </a:r>
          </a:p>
          <a:p>
            <a:pPr marL="342900" indent="-342900" algn="just">
              <a:buFont typeface="Arial" panose="020B0604020202020204" pitchFamily="34" charset="0"/>
              <a:buChar char="•"/>
            </a:pPr>
            <a:r>
              <a:rPr lang="en-US" sz="2000" dirty="0"/>
              <a:t>Describe how to change the wavelength and width for the waveguide analysis.</a:t>
            </a:r>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#1: </a:t>
            </a:r>
            <a:r>
              <a:rPr lang="en-US" sz="2000" dirty="0"/>
              <a:t>waveguide width 1.2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600"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marL="171450" indent="-171450" algn="just">
              <a:buFont typeface="Arial" panose="020B0604020202020204" pitchFamily="34" charset="0"/>
              <a:buChar char="•"/>
            </a:pPr>
            <a:r>
              <a:rPr lang="en-US" sz="1200" dirty="0" err="1">
                <a:latin typeface="Arial" panose="020B0604020202020204" pitchFamily="34" charset="0"/>
                <a:cs typeface="Arial" panose="020B0604020202020204" pitchFamily="34" charset="0"/>
              </a:rPr>
              <a:t>Utilizando</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combinacion</a:t>
            </a:r>
            <a:r>
              <a:rPr lang="en-US" sz="1200" dirty="0">
                <a:latin typeface="Arial" panose="020B0604020202020204" pitchFamily="34" charset="0"/>
                <a:cs typeface="Arial" panose="020B0604020202020204" pitchFamily="34" charset="0"/>
              </a:rPr>
              <a:t> de sin y sio2 para </a:t>
            </a:r>
            <a:r>
              <a:rPr lang="en-US" sz="1200" dirty="0" err="1">
                <a:latin typeface="Arial" panose="020B0604020202020204" pitchFamily="34" charset="0"/>
                <a:cs typeface="Arial" panose="020B0604020202020204" pitchFamily="34" charset="0"/>
              </a:rPr>
              <a:t>nucleo</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cubierta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respectivamente</a:t>
            </a:r>
            <a:r>
              <a:rPr lang="en-US" sz="1200" dirty="0">
                <a:latin typeface="Arial" panose="020B0604020202020204" pitchFamily="34" charset="0"/>
                <a:cs typeface="Arial" panose="020B0604020202020204" pitchFamily="34" charset="0"/>
              </a:rPr>
              <a:t> temenos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4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calculados</a:t>
            </a:r>
            <a:r>
              <a:rPr lang="en-US" sz="1200" dirty="0">
                <a:latin typeface="Arial" panose="020B0604020202020204" pitchFamily="34" charset="0"/>
                <a:cs typeface="Arial" panose="020B0604020202020204" pitchFamily="34" charset="0"/>
              </a:rPr>
              <a:t> solo dos de </a:t>
            </a:r>
            <a:r>
              <a:rPr lang="en-US" sz="1200" dirty="0" err="1">
                <a:latin typeface="Arial" panose="020B0604020202020204" pitchFamily="34" charset="0"/>
                <a:cs typeface="Arial" panose="020B0604020202020204" pitchFamily="34" charset="0"/>
              </a:rPr>
              <a:t>ellos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propagan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indice</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refraccion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3 y 4 (TE1 y TM1) es </a:t>
            </a:r>
            <a:r>
              <a:rPr lang="en-US" sz="1200" dirty="0" err="1">
                <a:latin typeface="Arial" panose="020B0604020202020204" pitchFamily="34" charset="0"/>
                <a:cs typeface="Arial" panose="020B0604020202020204" pitchFamily="34" charset="0"/>
              </a:rPr>
              <a:t>menor</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indice</a:t>
            </a:r>
            <a:r>
              <a:rPr lang="en-US" sz="1200" dirty="0">
                <a:latin typeface="Arial" panose="020B0604020202020204" pitchFamily="34" charset="0"/>
                <a:cs typeface="Arial" panose="020B0604020202020204" pitchFamily="34" charset="0"/>
              </a:rPr>
              <a:t> del material de la </a:t>
            </a:r>
            <a:r>
              <a:rPr lang="en-US" sz="1200" dirty="0" err="1">
                <a:latin typeface="Arial" panose="020B0604020202020204" pitchFamily="34" charset="0"/>
                <a:cs typeface="Arial" panose="020B0604020202020204" pitchFamily="34" charset="0"/>
              </a:rPr>
              <a:t>cubierta</a:t>
            </a:r>
            <a:r>
              <a:rPr lang="en-US" sz="1200" dirty="0">
                <a:latin typeface="Arial" panose="020B0604020202020204" pitchFamily="34" charset="0"/>
                <a:cs typeface="Arial" panose="020B0604020202020204" pitchFamily="34" charset="0"/>
              </a:rPr>
              <a:t> (sio2).</a:t>
            </a:r>
          </a:p>
          <a:p>
            <a:pPr marL="171450" indent="-171450" algn="just">
              <a:buFont typeface="Arial" panose="020B0604020202020204" pitchFamily="34" charset="0"/>
              <a:buChar char="•"/>
            </a:pPr>
            <a:r>
              <a:rPr lang="en-US" sz="1200" dirty="0">
                <a:latin typeface="Arial" panose="020B0604020202020204" pitchFamily="34" charset="0"/>
                <a:cs typeface="Arial" panose="020B0604020202020204" pitchFamily="34" charset="0"/>
              </a:rPr>
              <a:t>En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plots 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observar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1 y 2 </a:t>
            </a:r>
            <a:r>
              <a:rPr lang="en-US" sz="1200" dirty="0" err="1">
                <a:latin typeface="Arial" panose="020B0604020202020204" pitchFamily="34" charset="0"/>
                <a:cs typeface="Arial" panose="020B0604020202020204" pitchFamily="34" charset="0"/>
              </a:rPr>
              <a:t>correspondientas</a:t>
            </a:r>
            <a:r>
              <a:rPr lang="en-US" sz="1200" dirty="0">
                <a:latin typeface="Arial" panose="020B0604020202020204" pitchFamily="34" charset="0"/>
                <a:cs typeface="Arial" panose="020B0604020202020204" pitchFamily="34" charset="0"/>
              </a:rPr>
              <a:t> a TE0 y TM0 la </a:t>
            </a:r>
            <a:r>
              <a:rPr lang="en-US" sz="1200" dirty="0" err="1">
                <a:latin typeface="Arial" panose="020B0604020202020204" pitchFamily="34" charset="0"/>
                <a:cs typeface="Arial" panose="020B0604020202020204" pitchFamily="34" charset="0"/>
              </a:rPr>
              <a:t>intensidad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campos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dichos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concentra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centro</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Wavelength behavior</a:t>
            </a:r>
            <a:br>
              <a:rPr lang="es-ES" sz="2500" spc="-5" dirty="0">
                <a:latin typeface="+mj-lt"/>
                <a:cs typeface="Lucida Sans"/>
              </a:rPr>
            </a:br>
            <a:r>
              <a:rPr lang="en-US" b="0" dirty="0"/>
              <a:t>Wavelength 1.5-1.6 µm (step 0.01 µm) – width 1.2 µm</a:t>
            </a:r>
            <a:endParaRPr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(neff changes this way with wavelength, comparison between different waveguide cross-sections …</a:t>
            </a:r>
            <a:r>
              <a:rPr lang="en-US" sz="1200" dirty="0" err="1">
                <a:latin typeface="Arial" panose="020B0604020202020204" pitchFamily="34" charset="0"/>
                <a:cs typeface="Arial" panose="020B0604020202020204" pitchFamily="34" charset="0"/>
              </a:rPr>
              <a:t>etc</a:t>
            </a:r>
            <a:r>
              <a:rPr lang="en-US" sz="1200" dirty="0">
                <a:latin typeface="Arial" panose="020B0604020202020204" pitchFamily="34" charset="0"/>
                <a:cs typeface="Arial" panose="020B0604020202020204" pitchFamily="34" charset="0"/>
              </a:rPr>
              <a:t>)</a:t>
            </a:r>
          </a:p>
          <a:p>
            <a:pPr marL="171450" indent="-171450" algn="just">
              <a:buFont typeface="Arial" panose="020B0604020202020204" pitchFamily="34" charset="0"/>
              <a:buChar char="•"/>
            </a:pPr>
            <a:r>
              <a:rPr lang="en-US" sz="1200" dirty="0">
                <a:latin typeface="Arial" panose="020B0604020202020204" pitchFamily="34" charset="0"/>
                <a:cs typeface="Arial" panose="020B0604020202020204" pitchFamily="34" charset="0"/>
              </a:rPr>
              <a:t>El </a:t>
            </a:r>
            <a:r>
              <a:rPr lang="en-US" sz="1200" dirty="0" err="1">
                <a:latin typeface="Arial" panose="020B0604020202020204" pitchFamily="34" charset="0"/>
                <a:cs typeface="Arial" panose="020B0604020202020204" pitchFamily="34" charset="0"/>
              </a:rPr>
              <a:t>indice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disminuye</a:t>
            </a:r>
            <a:r>
              <a:rPr lang="en-US" sz="1200" dirty="0">
                <a:latin typeface="Arial" panose="020B0604020202020204" pitchFamily="34" charset="0"/>
                <a:cs typeface="Arial" panose="020B0604020202020204" pitchFamily="34" charset="0"/>
              </a:rPr>
              <a:t> con la longitude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a:t>
            </a:r>
          </a:p>
          <a:p>
            <a:pPr marL="171450" indent="-171450" algn="just">
              <a:buFont typeface="Arial" panose="020B0604020202020204" pitchFamily="34" charset="0"/>
              <a:buChar char="•"/>
            </a:pP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88F19863-7091-B8CA-F848-DBEA5CEEA027}"/>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3C4E7A47-20E2-3C27-D841-5A665642F6E2}"/>
              </a:ext>
            </a:extLst>
          </p:cNvPr>
          <p:cNvSpPr txBox="1"/>
          <p:nvPr/>
        </p:nvSpPr>
        <p:spPr>
          <a:xfrm>
            <a:off x="2285455" y="2671278"/>
            <a:ext cx="1980542" cy="923330"/>
          </a:xfrm>
          <a:prstGeom prst="rect">
            <a:avLst/>
          </a:prstGeom>
          <a:noFill/>
        </p:spPr>
        <p:txBody>
          <a:bodyPr wrap="none" rtlCol="0">
            <a:spAutoFit/>
          </a:bodyPr>
          <a:lstStyle/>
          <a:p>
            <a:pPr algn="ctr"/>
            <a:r>
              <a:rPr lang="en-US" b="1" dirty="0"/>
              <a:t>shallow</a:t>
            </a:r>
            <a:r>
              <a:rPr lang="en-US" dirty="0"/>
              <a:t> waveguide</a:t>
            </a:r>
          </a:p>
          <a:p>
            <a:pPr algn="ctr"/>
            <a:endParaRPr lang="en-US" dirty="0"/>
          </a:p>
          <a:p>
            <a:pPr algn="ctr"/>
            <a:r>
              <a:rPr lang="en-US" dirty="0"/>
              <a:t>Paste plot here</a:t>
            </a:r>
          </a:p>
        </p:txBody>
      </p:sp>
      <p:sp>
        <p:nvSpPr>
          <p:cNvPr id="7" name="Rectángulo 6">
            <a:extLst>
              <a:ext uri="{FF2B5EF4-FFF2-40B4-BE49-F238E27FC236}">
                <a16:creationId xmlns:a16="http://schemas.microsoft.com/office/drawing/2014/main" id="{21F754A5-65BC-14A3-5F55-75716FFA9027}"/>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8281672" y="2671278"/>
            <a:ext cx="1722908" cy="923330"/>
          </a:xfrm>
          <a:prstGeom prst="rect">
            <a:avLst/>
          </a:prstGeom>
          <a:noFill/>
        </p:spPr>
        <p:txBody>
          <a:bodyPr wrap="none" rtlCol="0">
            <a:spAutoFit/>
          </a:bodyPr>
          <a:lstStyle/>
          <a:p>
            <a:pPr algn="ctr"/>
            <a:r>
              <a:rPr lang="en-US" b="1" dirty="0"/>
              <a:t>deep</a:t>
            </a:r>
            <a:r>
              <a:rPr lang="en-US" dirty="0"/>
              <a:t> waveguide</a:t>
            </a:r>
          </a:p>
          <a:p>
            <a:pPr algn="ctr"/>
            <a:endParaRPr lang="en-US" dirty="0"/>
          </a:p>
          <a:p>
            <a:pPr algn="ctr"/>
            <a:r>
              <a:rPr lang="en-US" dirty="0"/>
              <a:t>Paste plot here</a:t>
            </a:r>
          </a:p>
        </p:txBody>
      </p:sp>
      <p:sp>
        <p:nvSpPr>
          <p:cNvPr id="9" name="CuadroTexto 8">
            <a:extLst>
              <a:ext uri="{FF2B5EF4-FFF2-40B4-BE49-F238E27FC236}">
                <a16:creationId xmlns:a16="http://schemas.microsoft.com/office/drawing/2014/main" id="{8BD4C233-B5D9-B6AA-93A8-CF2F130CFF9C}"/>
              </a:ext>
            </a:extLst>
          </p:cNvPr>
          <p:cNvSpPr txBox="1"/>
          <p:nvPr/>
        </p:nvSpPr>
        <p:spPr>
          <a:xfrm>
            <a:off x="642989" y="4402885"/>
            <a:ext cx="2269787" cy="369332"/>
          </a:xfrm>
          <a:prstGeom prst="rect">
            <a:avLst/>
          </a:prstGeom>
          <a:noFill/>
        </p:spPr>
        <p:txBody>
          <a:bodyPr wrap="square">
            <a:spAutoFit/>
          </a:bodyPr>
          <a:lstStyle/>
          <a:p>
            <a:r>
              <a:rPr lang="en-US"/>
              <a:t>slab </a:t>
            </a:r>
            <a:r>
              <a:rPr lang="en-US" dirty="0"/>
              <a:t>= 150nm</a:t>
            </a:r>
            <a:endParaRPr lang="es-ES" dirty="0"/>
          </a:p>
        </p:txBody>
      </p:sp>
      <p:pic>
        <p:nvPicPr>
          <p:cNvPr id="10" name="Imagen 9" descr="Gráfico, Gráfico de líneas&#10;&#10;El contenido generado por IA puede ser incorrecto.">
            <a:extLst>
              <a:ext uri="{FF2B5EF4-FFF2-40B4-BE49-F238E27FC236}">
                <a16:creationId xmlns:a16="http://schemas.microsoft.com/office/drawing/2014/main" id="{4DD46900-1980-8CD1-854E-CAD64FA1715F}"/>
              </a:ext>
            </a:extLst>
          </p:cNvPr>
          <p:cNvPicPr>
            <a:picLocks noChangeAspect="1"/>
          </p:cNvPicPr>
          <p:nvPr/>
        </p:nvPicPr>
        <p:blipFill>
          <a:blip r:embed="rId5"/>
          <a:stretch>
            <a:fillRect/>
          </a:stretch>
        </p:blipFill>
        <p:spPr>
          <a:xfrm>
            <a:off x="6537030" y="1513053"/>
            <a:ext cx="5143180" cy="3000188"/>
          </a:xfrm>
          <a:prstGeom prst="rect">
            <a:avLst/>
          </a:prstGeom>
        </p:spPr>
      </p:pic>
      <p:pic>
        <p:nvPicPr>
          <p:cNvPr id="12" name="Imagen 11" descr="Gráfico, Gráfico de líneas&#10;&#10;El contenido generado por IA puede ser incorrecto.">
            <a:extLst>
              <a:ext uri="{FF2B5EF4-FFF2-40B4-BE49-F238E27FC236}">
                <a16:creationId xmlns:a16="http://schemas.microsoft.com/office/drawing/2014/main" id="{8B3C3A16-0C41-9DB9-7293-2AAED7651BA2}"/>
              </a:ext>
            </a:extLst>
          </p:cNvPr>
          <p:cNvPicPr>
            <a:picLocks noChangeAspect="1"/>
          </p:cNvPicPr>
          <p:nvPr/>
        </p:nvPicPr>
        <p:blipFill>
          <a:blip r:embed="rId6"/>
          <a:stretch>
            <a:fillRect/>
          </a:stretch>
        </p:blipFill>
        <p:spPr>
          <a:xfrm>
            <a:off x="685800" y="1536200"/>
            <a:ext cx="5082411" cy="2964740"/>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Width dependence</a:t>
            </a:r>
            <a:br>
              <a:rPr lang="es-ES" sz="2500" spc="-5" dirty="0">
                <a:latin typeface="+mj-lt"/>
                <a:cs typeface="Lucida Sans"/>
              </a:rPr>
            </a:br>
            <a:r>
              <a:rPr lang="en-US" b="0" dirty="0"/>
              <a:t>Width 0.6 - 1.6 µm (step 0.1 µm) – Wavelength 1.55 µm </a:t>
            </a:r>
            <a:endParaRPr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(neff changes this way with width, polarization behavior, </a:t>
            </a:r>
            <a:r>
              <a:rPr lang="en-US" sz="1200" dirty="0" err="1">
                <a:latin typeface="Arial" panose="020B0604020202020204" pitchFamily="34" charset="0"/>
                <a:cs typeface="Arial" panose="020B0604020202020204" pitchFamily="34" charset="0"/>
              </a:rPr>
              <a:t>etc</a:t>
            </a:r>
            <a:r>
              <a:rPr lang="en-US" sz="1200" dirty="0">
                <a:latin typeface="Arial" panose="020B0604020202020204" pitchFamily="34" charset="0"/>
                <a:cs typeface="Arial" panose="020B0604020202020204" pitchFamily="34" charset="0"/>
              </a:rPr>
              <a:t>…)</a:t>
            </a:r>
          </a:p>
          <a:p>
            <a:pPr marL="171450" indent="-171450" algn="just">
              <a:buFontTx/>
              <a:buChar char="-"/>
            </a:pPr>
            <a:r>
              <a:rPr lang="es-ES" sz="1200" noProof="0" dirty="0">
                <a:latin typeface="Arial" panose="020B0604020202020204" pitchFamily="34" charset="0"/>
                <a:cs typeface="Arial" panose="020B0604020202020204" pitchFamily="34" charset="0"/>
              </a:rPr>
              <a:t>A medida que se incrementa el ancho de la guía , aumenta consigo el índice efectivo </a:t>
            </a:r>
            <a:r>
              <a:rPr lang="es-ES" sz="1200" noProof="0" dirty="0" err="1">
                <a:latin typeface="Arial" panose="020B0604020202020204" pitchFamily="34" charset="0"/>
                <a:cs typeface="Arial" panose="020B0604020202020204" pitchFamily="34" charset="0"/>
              </a:rPr>
              <a:t>neff</a:t>
            </a:r>
            <a:r>
              <a:rPr lang="es-ES" sz="1200" noProof="0" dirty="0">
                <a:latin typeface="Arial" panose="020B0604020202020204" pitchFamily="34" charset="0"/>
                <a:cs typeface="Arial" panose="020B0604020202020204" pitchFamily="34" charset="0"/>
              </a:rPr>
              <a:t>, por lo que el índice efectivo y los modos que se propagan, </a:t>
            </a:r>
            <a:r>
              <a:rPr lang="es-ES" sz="1200" noProof="0" dirty="0" err="1">
                <a:latin typeface="Arial" panose="020B0604020202020204" pitchFamily="34" charset="0"/>
                <a:cs typeface="Arial" panose="020B0604020202020204" pitchFamily="34" charset="0"/>
              </a:rPr>
              <a:t>estan</a:t>
            </a:r>
            <a:r>
              <a:rPr lang="es-ES" sz="1200" noProof="0" dirty="0">
                <a:latin typeface="Arial" panose="020B0604020202020204" pitchFamily="34" charset="0"/>
                <a:cs typeface="Arial" panose="020B0604020202020204" pitchFamily="34" charset="0"/>
              </a:rPr>
              <a:t> directamente relacionados con el ancho de la guía.</a:t>
            </a:r>
          </a:p>
          <a:p>
            <a:pPr marL="171450" indent="-171450" algn="just">
              <a:buFontTx/>
              <a:buChar char="-"/>
            </a:pPr>
            <a:endParaRPr lang="es-ES" sz="1200" noProof="0" dirty="0">
              <a:latin typeface="Arial" panose="020B0604020202020204" pitchFamily="34" charset="0"/>
              <a:cs typeface="Arial" panose="020B0604020202020204" pitchFamily="34" charset="0"/>
            </a:endParaRPr>
          </a:p>
          <a:p>
            <a:pPr marL="171450" indent="-171450" algn="just">
              <a:buFontTx/>
              <a:buChar char="-"/>
            </a:pPr>
            <a:endParaRPr lang="en-US" sz="1200" dirty="0">
              <a:latin typeface="Arial" panose="020B0604020202020204" pitchFamily="34" charset="0"/>
              <a:cs typeface="Arial" panose="020B0604020202020204" pitchFamily="34" charset="0"/>
            </a:endParaRPr>
          </a:p>
          <a:p>
            <a:pPr marL="171450" indent="-171450" algn="just">
              <a:buFontTx/>
              <a:buChar char="-"/>
            </a:pPr>
            <a:endParaRPr lang="en-US" sz="1200" dirty="0">
              <a:latin typeface="Arial" panose="020B0604020202020204" pitchFamily="34" charset="0"/>
              <a:cs typeface="Arial" panose="020B0604020202020204" pitchFamily="34" charset="0"/>
            </a:endParaRPr>
          </a:p>
          <a:p>
            <a:pPr marL="171450" indent="-171450" algn="just">
              <a:buFontTx/>
              <a:buChar char="-"/>
            </a:pP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plot here</a:t>
            </a:r>
          </a:p>
        </p:txBody>
      </p:sp>
      <p:pic>
        <p:nvPicPr>
          <p:cNvPr id="5" name="Imagen 4" descr="Gráfico, Gráfico de líneas&#10;&#10;El contenido generado por IA puede ser incorrecto.">
            <a:extLst>
              <a:ext uri="{FF2B5EF4-FFF2-40B4-BE49-F238E27FC236}">
                <a16:creationId xmlns:a16="http://schemas.microsoft.com/office/drawing/2014/main" id="{43B2A1FB-9189-C3C2-4CB4-DE022DEC6F67}"/>
              </a:ext>
            </a:extLst>
          </p:cNvPr>
          <p:cNvPicPr>
            <a:picLocks noChangeAspect="1"/>
          </p:cNvPicPr>
          <p:nvPr/>
        </p:nvPicPr>
        <p:blipFill>
          <a:blip r:embed="rId5"/>
          <a:stretch>
            <a:fillRect/>
          </a:stretch>
        </p:blipFill>
        <p:spPr>
          <a:xfrm>
            <a:off x="3901440" y="1496632"/>
            <a:ext cx="5410200" cy="3149509"/>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w=1.2um   - </a:t>
            </a:r>
            <a:r>
              <a:rPr lang="en-US" dirty="0"/>
              <a:t>Shallow</a:t>
            </a:r>
            <a:r>
              <a:rPr lang="en-US" b="0" dirty="0"/>
              <a:t> waveguide, core h=300nm, slab h=150 nm, w = 1.2um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A440F587-93A3-E474-C0B0-883BB9DAFD85}"/>
                  </a:ext>
                </a:extLst>
              </p:cNvPr>
              <p:cNvSpPr txBox="1"/>
              <p:nvPr/>
            </p:nvSpPr>
            <p:spPr>
              <a:xfrm>
                <a:off x="609441" y="4860334"/>
                <a:ext cx="11198542" cy="1478738"/>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Find the second-degree polynomial coefficients and relate them with the group index and the dispersion parameter. </a:t>
                </a:r>
                <a14:m>
                  <m:oMath xmlns:m="http://schemas.openxmlformats.org/officeDocument/2006/math">
                    <m:d>
                      <m:dPr>
                        <m:begChr m:val="{"/>
                        <m:endChr m:val=""/>
                        <m:ctrlPr>
                          <a:rPr lang="es-ES" sz="1200" b="1" i="1" smtClean="0">
                            <a:latin typeface="Cambria Math" panose="02040503050406030204" pitchFamily="18" charset="0"/>
                            <a:cs typeface="Arial" panose="020B0604020202020204" pitchFamily="34" charset="0"/>
                          </a:rPr>
                        </m:ctrlPr>
                      </m:dPr>
                      <m:e>
                        <m:eqArr>
                          <m:eqArrPr>
                            <m:ctrlPr>
                              <a:rPr lang="es-ES" sz="1200" b="1" i="1" smtClean="0">
                                <a:latin typeface="Cambria Math" panose="02040503050406030204" pitchFamily="18" charset="0"/>
                                <a:cs typeface="Arial" panose="020B0604020202020204" pitchFamily="34" charset="0"/>
                              </a:rPr>
                            </m:ctrlPr>
                          </m:eqArrPr>
                          <m:e>
                            <m:sSub>
                              <m:sSubPr>
                                <m:ctrlPr>
                                  <a:rPr lang="es-ES" sz="1200" b="1" i="1" smtClean="0">
                                    <a:latin typeface="Cambria Math" panose="02040503050406030204" pitchFamily="18" charset="0"/>
                                    <a:cs typeface="Arial" panose="020B0604020202020204" pitchFamily="34" charset="0"/>
                                  </a:rPr>
                                </m:ctrlPr>
                              </m:sSubPr>
                              <m:e>
                                <m:r>
                                  <a:rPr lang="es-ES" sz="1200" b="1" i="1" smtClean="0">
                                    <a:latin typeface="Cambria Math" panose="02040503050406030204" pitchFamily="18" charset="0"/>
                                    <a:cs typeface="Arial" panose="020B0604020202020204" pitchFamily="34" charset="0"/>
                                  </a:rPr>
                                  <m:t>𝒏</m:t>
                                </m:r>
                              </m:e>
                              <m:sub>
                                <m:r>
                                  <a:rPr lang="es-ES" sz="1200" b="1" i="1" smtClean="0">
                                    <a:latin typeface="Cambria Math" panose="02040503050406030204" pitchFamily="18" charset="0"/>
                                    <a:cs typeface="Arial" panose="020B0604020202020204" pitchFamily="34" charset="0"/>
                                  </a:rPr>
                                  <m:t>𝒆𝒇𝒇</m:t>
                                </m:r>
                              </m:sub>
                            </m:sSub>
                            <m:r>
                              <a:rPr lang="es-ES" sz="1200" b="1" i="1" smtClean="0">
                                <a:latin typeface="Cambria Math" panose="02040503050406030204" pitchFamily="18" charset="0"/>
                                <a:cs typeface="Arial" panose="020B0604020202020204" pitchFamily="34" charset="0"/>
                              </a:rPr>
                              <m:t>=</m:t>
                            </m:r>
                            <m:sSub>
                              <m:sSubPr>
                                <m:ctrlPr>
                                  <a:rPr lang="es-ES" sz="1200" b="1" i="1" smtClean="0">
                                    <a:latin typeface="Cambria Math" panose="02040503050406030204" pitchFamily="18" charset="0"/>
                                    <a:cs typeface="Arial" panose="020B0604020202020204" pitchFamily="34" charset="0"/>
                                  </a:rPr>
                                </m:ctrlPr>
                              </m:sSubPr>
                              <m:e>
                                <m:r>
                                  <a:rPr lang="es-ES" sz="1200" b="1" i="1" smtClean="0">
                                    <a:latin typeface="Cambria Math" panose="02040503050406030204" pitchFamily="18" charset="0"/>
                                    <a:cs typeface="Arial" panose="020B0604020202020204" pitchFamily="34" charset="0"/>
                                  </a:rPr>
                                  <m:t>𝒏</m:t>
                                </m:r>
                              </m:e>
                              <m:sub>
                                <m:r>
                                  <a:rPr lang="es-ES" sz="1200" b="1" i="1" smtClean="0">
                                    <a:latin typeface="Cambria Math" panose="02040503050406030204" pitchFamily="18" charset="0"/>
                                    <a:cs typeface="Arial" panose="020B0604020202020204" pitchFamily="34" charset="0"/>
                                  </a:rPr>
                                  <m:t>𝟏</m:t>
                                </m:r>
                              </m:sub>
                            </m:sSub>
                          </m:e>
                          <m:e>
                            <m:sSub>
                              <m:sSubPr>
                                <m:ctrlPr>
                                  <a:rPr lang="es-ES" sz="1200" b="1" i="1" smtClean="0">
                                    <a:latin typeface="Cambria Math" panose="02040503050406030204" pitchFamily="18" charset="0"/>
                                    <a:cs typeface="Arial" panose="020B0604020202020204" pitchFamily="34" charset="0"/>
                                  </a:rPr>
                                </m:ctrlPr>
                              </m:sSubPr>
                              <m:e>
                                <m:r>
                                  <a:rPr lang="es-ES" sz="1200" b="1" i="1" smtClean="0">
                                    <a:latin typeface="Cambria Math" panose="02040503050406030204" pitchFamily="18" charset="0"/>
                                    <a:cs typeface="Arial" panose="020B0604020202020204" pitchFamily="34" charset="0"/>
                                  </a:rPr>
                                  <m:t>𝒏</m:t>
                                </m:r>
                              </m:e>
                              <m:sub>
                                <m:r>
                                  <a:rPr lang="es-ES" sz="1200" b="1" i="1" smtClean="0">
                                    <a:latin typeface="Cambria Math" panose="02040503050406030204" pitchFamily="18" charset="0"/>
                                    <a:cs typeface="Arial" panose="020B0604020202020204" pitchFamily="34" charset="0"/>
                                  </a:rPr>
                                  <m:t>𝒈</m:t>
                                </m:r>
                              </m:sub>
                            </m:sSub>
                            <m:r>
                              <a:rPr lang="es-ES" sz="1200" b="1" i="1" smtClean="0">
                                <a:latin typeface="Cambria Math" panose="02040503050406030204" pitchFamily="18" charset="0"/>
                                <a:cs typeface="Arial" panose="020B0604020202020204" pitchFamily="34" charset="0"/>
                              </a:rPr>
                              <m:t>=</m:t>
                            </m:r>
                            <m:sSub>
                              <m:sSubPr>
                                <m:ctrlPr>
                                  <a:rPr lang="es-ES" sz="1200" b="1" i="1" smtClean="0">
                                    <a:latin typeface="Cambria Math" panose="02040503050406030204" pitchFamily="18" charset="0"/>
                                    <a:cs typeface="Arial" panose="020B0604020202020204" pitchFamily="34" charset="0"/>
                                  </a:rPr>
                                </m:ctrlPr>
                              </m:sSubPr>
                              <m:e>
                                <m:r>
                                  <a:rPr lang="es-ES" sz="1200" b="1" i="1" smtClean="0">
                                    <a:latin typeface="Cambria Math" panose="02040503050406030204" pitchFamily="18" charset="0"/>
                                    <a:cs typeface="Arial" panose="020B0604020202020204" pitchFamily="34" charset="0"/>
                                  </a:rPr>
                                  <m:t>𝒏</m:t>
                                </m:r>
                              </m:e>
                              <m:sub>
                                <m:r>
                                  <a:rPr lang="es-ES" sz="1200" b="1" i="1" smtClean="0">
                                    <a:latin typeface="Cambria Math" panose="02040503050406030204" pitchFamily="18" charset="0"/>
                                    <a:cs typeface="Arial" panose="020B0604020202020204" pitchFamily="34" charset="0"/>
                                  </a:rPr>
                                  <m:t>𝟏</m:t>
                                </m:r>
                              </m:sub>
                            </m:sSub>
                            <m:r>
                              <a:rPr lang="es-ES" sz="1200" b="1" i="1" smtClean="0">
                                <a:latin typeface="Cambria Math" panose="02040503050406030204" pitchFamily="18" charset="0"/>
                                <a:cs typeface="Arial" panose="020B0604020202020204" pitchFamily="34" charset="0"/>
                              </a:rPr>
                              <m:t>−</m:t>
                            </m:r>
                            <m:sSub>
                              <m:sSubPr>
                                <m:ctrlPr>
                                  <a:rPr lang="es-ES" sz="1200" b="1" i="1" smtClean="0">
                                    <a:latin typeface="Cambria Math" panose="02040503050406030204" pitchFamily="18" charset="0"/>
                                    <a:cs typeface="Arial" panose="020B0604020202020204" pitchFamily="34" charset="0"/>
                                  </a:rPr>
                                </m:ctrlPr>
                              </m:sSubPr>
                              <m:e>
                                <m:r>
                                  <a:rPr lang="es-ES" sz="1200" b="1" i="1" smtClean="0">
                                    <a:latin typeface="Cambria Math" panose="02040503050406030204" pitchFamily="18" charset="0"/>
                                    <a:cs typeface="Arial" panose="020B0604020202020204" pitchFamily="34" charset="0"/>
                                  </a:rPr>
                                  <m:t>𝒏</m:t>
                                </m:r>
                              </m:e>
                              <m:sub>
                                <m:r>
                                  <a:rPr lang="es-ES" sz="1200" b="1" i="1" smtClean="0">
                                    <a:latin typeface="Cambria Math" panose="02040503050406030204" pitchFamily="18" charset="0"/>
                                    <a:cs typeface="Arial" panose="020B0604020202020204" pitchFamily="34" charset="0"/>
                                  </a:rPr>
                                  <m:t>𝟐</m:t>
                                </m:r>
                              </m:sub>
                            </m:sSub>
                            <m:sSub>
                              <m:sSubPr>
                                <m:ctrlPr>
                                  <a:rPr lang="es-ES" sz="1200" b="1" i="1" smtClean="0">
                                    <a:latin typeface="Cambria Math" panose="02040503050406030204" pitchFamily="18" charset="0"/>
                                    <a:cs typeface="Arial" panose="020B0604020202020204" pitchFamily="34" charset="0"/>
                                  </a:rPr>
                                </m:ctrlPr>
                              </m:sSubPr>
                              <m:e>
                                <m:r>
                                  <a:rPr lang="es-ES" sz="1200" b="1" i="1" smtClean="0">
                                    <a:latin typeface="Cambria Math" panose="02040503050406030204" pitchFamily="18" charset="0"/>
                                    <a:cs typeface="Arial" panose="020B0604020202020204" pitchFamily="34" charset="0"/>
                                  </a:rPr>
                                  <m:t>𝝀</m:t>
                                </m:r>
                              </m:e>
                              <m:sub>
                                <m:r>
                                  <a:rPr lang="es-ES" sz="1200" b="1" i="1" smtClean="0">
                                    <a:latin typeface="Cambria Math" panose="02040503050406030204" pitchFamily="18" charset="0"/>
                                    <a:cs typeface="Arial" panose="020B0604020202020204" pitchFamily="34" charset="0"/>
                                  </a:rPr>
                                  <m:t>𝟎</m:t>
                                </m:r>
                              </m:sub>
                            </m:sSub>
                          </m:e>
                          <m:e>
                            <m:r>
                              <a:rPr lang="es-ES" sz="1200" b="1" i="1" smtClean="0">
                                <a:latin typeface="Cambria Math" panose="02040503050406030204" pitchFamily="18" charset="0"/>
                                <a:cs typeface="Arial" panose="020B0604020202020204" pitchFamily="34" charset="0"/>
                              </a:rPr>
                              <m:t>𝑫</m:t>
                            </m:r>
                            <m:r>
                              <a:rPr lang="es-ES" sz="1200" b="1" i="1" smtClean="0">
                                <a:latin typeface="Cambria Math" panose="02040503050406030204" pitchFamily="18" charset="0"/>
                                <a:cs typeface="Arial" panose="020B0604020202020204" pitchFamily="34" charset="0"/>
                              </a:rPr>
                              <m:t>=−</m:t>
                            </m:r>
                            <m:f>
                              <m:fPr>
                                <m:ctrlPr>
                                  <a:rPr lang="es-ES" sz="1200" b="1" i="1" smtClean="0">
                                    <a:latin typeface="Cambria Math" panose="02040503050406030204" pitchFamily="18" charset="0"/>
                                    <a:cs typeface="Arial" panose="020B0604020202020204" pitchFamily="34" charset="0"/>
                                  </a:rPr>
                                </m:ctrlPr>
                              </m:fPr>
                              <m:num>
                                <m:r>
                                  <a:rPr lang="es-ES" sz="1200" b="1" i="1" smtClean="0">
                                    <a:latin typeface="Cambria Math" panose="02040503050406030204" pitchFamily="18" charset="0"/>
                                    <a:cs typeface="Arial" panose="020B0604020202020204" pitchFamily="34" charset="0"/>
                                  </a:rPr>
                                  <m:t>𝟐</m:t>
                                </m:r>
                                <m:sSub>
                                  <m:sSubPr>
                                    <m:ctrlPr>
                                      <a:rPr lang="es-ES" sz="1200" b="1" i="1" smtClean="0">
                                        <a:latin typeface="Cambria Math" panose="02040503050406030204" pitchFamily="18" charset="0"/>
                                        <a:cs typeface="Arial" panose="020B0604020202020204" pitchFamily="34" charset="0"/>
                                      </a:rPr>
                                    </m:ctrlPr>
                                  </m:sSubPr>
                                  <m:e>
                                    <m:r>
                                      <a:rPr lang="es-ES" sz="1200" b="1" i="1" smtClean="0">
                                        <a:latin typeface="Cambria Math" panose="02040503050406030204" pitchFamily="18" charset="0"/>
                                        <a:cs typeface="Arial" panose="020B0604020202020204" pitchFamily="34" charset="0"/>
                                      </a:rPr>
                                      <m:t>𝝀</m:t>
                                    </m:r>
                                  </m:e>
                                  <m:sub>
                                    <m:r>
                                      <a:rPr lang="es-ES" sz="1200" b="1" i="1" smtClean="0">
                                        <a:latin typeface="Cambria Math" panose="02040503050406030204" pitchFamily="18" charset="0"/>
                                        <a:cs typeface="Arial" panose="020B0604020202020204" pitchFamily="34" charset="0"/>
                                      </a:rPr>
                                      <m:t>𝟎</m:t>
                                    </m:r>
                                  </m:sub>
                                </m:sSub>
                                <m:sSub>
                                  <m:sSubPr>
                                    <m:ctrlPr>
                                      <a:rPr lang="es-ES" sz="1200" b="1" i="1" smtClean="0">
                                        <a:latin typeface="Cambria Math" panose="02040503050406030204" pitchFamily="18" charset="0"/>
                                        <a:cs typeface="Arial" panose="020B0604020202020204" pitchFamily="34" charset="0"/>
                                      </a:rPr>
                                    </m:ctrlPr>
                                  </m:sSubPr>
                                  <m:e>
                                    <m:r>
                                      <a:rPr lang="es-ES" sz="1200" b="1" i="1" smtClean="0">
                                        <a:latin typeface="Cambria Math" panose="02040503050406030204" pitchFamily="18" charset="0"/>
                                        <a:cs typeface="Arial" panose="020B0604020202020204" pitchFamily="34" charset="0"/>
                                      </a:rPr>
                                      <m:t>𝒏</m:t>
                                    </m:r>
                                  </m:e>
                                  <m:sub>
                                    <m:r>
                                      <a:rPr lang="es-ES" sz="1200" b="1" i="1" smtClean="0">
                                        <a:latin typeface="Cambria Math" panose="02040503050406030204" pitchFamily="18" charset="0"/>
                                        <a:cs typeface="Arial" panose="020B0604020202020204" pitchFamily="34" charset="0"/>
                                      </a:rPr>
                                      <m:t>𝟑</m:t>
                                    </m:r>
                                  </m:sub>
                                </m:sSub>
                              </m:num>
                              <m:den>
                                <m:r>
                                  <a:rPr lang="es-ES" sz="1200" b="1" i="1" smtClean="0">
                                    <a:latin typeface="Cambria Math" panose="02040503050406030204" pitchFamily="18" charset="0"/>
                                    <a:cs typeface="Arial" panose="020B0604020202020204" pitchFamily="34" charset="0"/>
                                  </a:rPr>
                                  <m:t>𝒄</m:t>
                                </m:r>
                              </m:den>
                            </m:f>
                            <m:d>
                              <m:dPr>
                                <m:begChr m:val="["/>
                                <m:endChr m:val="]"/>
                                <m:ctrlPr>
                                  <a:rPr lang="es-ES" sz="1200" b="1" i="1" smtClean="0">
                                    <a:latin typeface="Cambria Math" panose="02040503050406030204" pitchFamily="18" charset="0"/>
                                    <a:cs typeface="Arial" panose="020B0604020202020204" pitchFamily="34" charset="0"/>
                                  </a:rPr>
                                </m:ctrlPr>
                              </m:dPr>
                              <m:e>
                                <m:f>
                                  <m:fPr>
                                    <m:ctrlPr>
                                      <a:rPr lang="es-ES" sz="1200" b="1" i="1" smtClean="0">
                                        <a:latin typeface="Cambria Math" panose="02040503050406030204" pitchFamily="18" charset="0"/>
                                        <a:cs typeface="Arial" panose="020B0604020202020204" pitchFamily="34" charset="0"/>
                                      </a:rPr>
                                    </m:ctrlPr>
                                  </m:fPr>
                                  <m:num>
                                    <m:sSup>
                                      <m:sSupPr>
                                        <m:ctrlPr>
                                          <a:rPr lang="es-ES" sz="1200" b="1" i="1" smtClean="0">
                                            <a:latin typeface="Cambria Math" panose="02040503050406030204" pitchFamily="18" charset="0"/>
                                            <a:cs typeface="Arial" panose="020B0604020202020204" pitchFamily="34" charset="0"/>
                                          </a:rPr>
                                        </m:ctrlPr>
                                      </m:sSupPr>
                                      <m:e>
                                        <m:r>
                                          <a:rPr lang="es-ES" sz="1200" b="1" i="1" smtClean="0">
                                            <a:latin typeface="Cambria Math" panose="02040503050406030204" pitchFamily="18" charset="0"/>
                                            <a:cs typeface="Arial" panose="020B0604020202020204" pitchFamily="34" charset="0"/>
                                          </a:rPr>
                                          <m:t>𝒔</m:t>
                                        </m:r>
                                      </m:e>
                                      <m:sup>
                                        <m:r>
                                          <a:rPr lang="es-ES" sz="1200" b="1" i="1" smtClean="0">
                                            <a:latin typeface="Cambria Math" panose="02040503050406030204" pitchFamily="18" charset="0"/>
                                            <a:cs typeface="Arial" panose="020B0604020202020204" pitchFamily="34" charset="0"/>
                                          </a:rPr>
                                          <m:t>𝟐</m:t>
                                        </m:r>
                                      </m:sup>
                                    </m:sSup>
                                  </m:num>
                                  <m:den>
                                    <m:r>
                                      <a:rPr lang="es-ES" sz="1200" b="1" i="1" smtClean="0">
                                        <a:latin typeface="Cambria Math" panose="02040503050406030204" pitchFamily="18" charset="0"/>
                                        <a:cs typeface="Arial" panose="020B0604020202020204" pitchFamily="34" charset="0"/>
                                      </a:rPr>
                                      <m:t>𝒎</m:t>
                                    </m:r>
                                  </m:den>
                                </m:f>
                              </m:e>
                            </m:d>
                          </m:e>
                        </m:eqArr>
                      </m:e>
                    </m:d>
                  </m:oMath>
                </a14:m>
                <a:endParaRPr lang="es-ES" sz="1200" b="1"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 </a:t>
                </a:r>
              </a:p>
              <a:p>
                <a:pPr algn="just"/>
                <a:r>
                  <a:rPr lang="en-US" sz="1200" b="1" dirty="0">
                    <a:latin typeface="Arial" panose="020B0604020202020204" pitchFamily="34" charset="0"/>
                    <a:cs typeface="Arial" panose="020B0604020202020204" pitchFamily="34" charset="0"/>
                  </a:rPr>
                  <a:t>Comment on the results found for the TE0 and TM0 for both deep and shallow waveguides. </a:t>
                </a:r>
              </a:p>
              <a:p>
                <a:pPr algn="just"/>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A440F587-93A3-E474-C0B0-883BB9DAFD85}"/>
                  </a:ext>
                </a:extLst>
              </p:cNvPr>
              <p:cNvSpPr txBox="1">
                <a:spLocks noRot="1" noChangeAspect="1" noMove="1" noResize="1" noEditPoints="1" noAdjustHandles="1" noChangeArrowheads="1" noChangeShapeType="1" noTextEdit="1"/>
              </p:cNvSpPr>
              <p:nvPr/>
            </p:nvSpPr>
            <p:spPr>
              <a:xfrm>
                <a:off x="609441" y="4860334"/>
                <a:ext cx="11198542" cy="1478738"/>
              </a:xfrm>
              <a:prstGeom prst="rect">
                <a:avLst/>
              </a:prstGeom>
              <a:blipFill>
                <a:blip r:embed="rId5"/>
                <a:stretch>
                  <a:fillRect/>
                </a:stretch>
              </a:blipFill>
              <a:ln w="28575">
                <a:solidFill>
                  <a:srgbClr val="E0700D"/>
                </a:solidFill>
              </a:ln>
            </p:spPr>
            <p:txBody>
              <a:bodyPr/>
              <a:lstStyle/>
              <a:p>
                <a:r>
                  <a:rPr lang="es-ES">
                    <a:noFill/>
                  </a:rPr>
                  <a:t> </a:t>
                </a:r>
              </a:p>
            </p:txBody>
          </p:sp>
        </mc:Fallback>
      </mc:AlternateContent>
      <p:sp>
        <p:nvSpPr>
          <p:cNvPr id="5" name="Rectángulo 4">
            <a:extLst>
              <a:ext uri="{FF2B5EF4-FFF2-40B4-BE49-F238E27FC236}">
                <a16:creationId xmlns:a16="http://schemas.microsoft.com/office/drawing/2014/main" id="{A6B92C76-6772-2E00-346F-532321092C0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886628E-6E58-1F7E-B6C6-432B9A22839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59B6428-4395-242F-54D8-A9FC610F2D7A}"/>
                  </a:ext>
                </a:extLst>
              </p:cNvPr>
              <p:cNvSpPr txBox="1"/>
              <p:nvPr/>
            </p:nvSpPr>
            <p:spPr>
              <a:xfrm>
                <a:off x="609440" y="2709096"/>
                <a:ext cx="5486559" cy="1200329"/>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b="1" dirty="0"/>
                  <a:t>neff_TE0 vs </a:t>
                </a:r>
                <a14:m>
                  <m:oMath xmlns:m="http://schemas.openxmlformats.org/officeDocument/2006/math">
                    <m:r>
                      <a:rPr lang="es-ES" b="1" i="1" smtClean="0">
                        <a:latin typeface="Cambria Math" panose="02040503050406030204" pitchFamily="18" charset="0"/>
                      </a:rPr>
                      <m:t>𝝀</m:t>
                    </m:r>
                  </m:oMath>
                </a14:m>
                <a:r>
                  <a:rPr lang="en-US" b="1" dirty="0"/>
                  <a:t> </a:t>
                </a:r>
                <a:r>
                  <a:rPr lang="en-US" dirty="0"/>
                  <a:t>with the second-degree polynomial fit  </a:t>
                </a:r>
              </a:p>
              <a:p>
                <a:pPr algn="ctr"/>
                <a:r>
                  <a:rPr lang="en-US" dirty="0"/>
                  <a:t>&amp; </a:t>
                </a:r>
                <a:r>
                  <a:rPr lang="en-US" b="1" dirty="0"/>
                  <a:t>neff_TM0 vs </a:t>
                </a:r>
                <a14:m>
                  <m:oMath xmlns:m="http://schemas.openxmlformats.org/officeDocument/2006/math">
                    <m:r>
                      <a:rPr lang="es-ES" b="1" i="1">
                        <a:latin typeface="Cambria Math" panose="02040503050406030204" pitchFamily="18" charset="0"/>
                      </a:rPr>
                      <m:t>𝝀</m:t>
                    </m:r>
                  </m:oMath>
                </a14:m>
                <a:r>
                  <a:rPr lang="en-US" b="1" dirty="0"/>
                  <a:t> </a:t>
                </a:r>
                <a:r>
                  <a:rPr lang="en-US" dirty="0"/>
                  <a:t>with the second-degree polynomial fit </a:t>
                </a:r>
              </a:p>
            </p:txBody>
          </p:sp>
        </mc:Choice>
        <mc:Fallback xmlns="">
          <p:sp>
            <p:nvSpPr>
              <p:cNvPr id="9" name="CuadroTexto 8">
                <a:extLst>
                  <a:ext uri="{FF2B5EF4-FFF2-40B4-BE49-F238E27FC236}">
                    <a16:creationId xmlns:a16="http://schemas.microsoft.com/office/drawing/2014/main" id="{C59B6428-4395-242F-54D8-A9FC610F2D7A}"/>
                  </a:ext>
                </a:extLst>
              </p:cNvPr>
              <p:cNvSpPr txBox="1">
                <a:spLocks noRot="1" noChangeAspect="1" noMove="1" noResize="1" noEditPoints="1" noAdjustHandles="1" noChangeArrowheads="1" noChangeShapeType="1" noTextEdit="1"/>
              </p:cNvSpPr>
              <p:nvPr/>
            </p:nvSpPr>
            <p:spPr>
              <a:xfrm>
                <a:off x="609440" y="2709096"/>
                <a:ext cx="5486559" cy="1200329"/>
              </a:xfrm>
              <a:prstGeom prst="rect">
                <a:avLst/>
              </a:prstGeom>
              <a:blipFill>
                <a:blip r:embed="rId7"/>
                <a:stretch>
                  <a:fillRect t="-2538" r="-556" b="-710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9320AF78-1FC6-19F4-8E0B-8A414F20C6DE}"/>
                  </a:ext>
                </a:extLst>
              </p:cNvPr>
              <p:cNvSpPr txBox="1"/>
              <p:nvPr/>
            </p:nvSpPr>
            <p:spPr>
              <a:xfrm>
                <a:off x="6321421" y="2709096"/>
                <a:ext cx="5486559" cy="1200329"/>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b="1" dirty="0"/>
                  <a:t>neff_TE0 vs </a:t>
                </a:r>
                <a14:m>
                  <m:oMath xmlns:m="http://schemas.openxmlformats.org/officeDocument/2006/math">
                    <m:r>
                      <a:rPr lang="es-ES" b="1" i="1">
                        <a:latin typeface="Cambria Math" panose="02040503050406030204" pitchFamily="18" charset="0"/>
                      </a:rPr>
                      <m:t>𝝀</m:t>
                    </m:r>
                  </m:oMath>
                </a14:m>
                <a:r>
                  <a:rPr lang="en-US" b="1" dirty="0"/>
                  <a:t> </a:t>
                </a:r>
                <a:r>
                  <a:rPr lang="en-US" dirty="0"/>
                  <a:t>with the second-degree polynomial fit  </a:t>
                </a:r>
              </a:p>
              <a:p>
                <a:pPr algn="ctr"/>
                <a:r>
                  <a:rPr lang="en-US" dirty="0"/>
                  <a:t>&amp; </a:t>
                </a:r>
                <a:r>
                  <a:rPr lang="en-US" b="1" dirty="0"/>
                  <a:t>neff_TM0 vs </a:t>
                </a:r>
                <a14:m>
                  <m:oMath xmlns:m="http://schemas.openxmlformats.org/officeDocument/2006/math">
                    <m:r>
                      <a:rPr lang="es-ES" b="1" i="1">
                        <a:latin typeface="Cambria Math" panose="02040503050406030204" pitchFamily="18" charset="0"/>
                      </a:rPr>
                      <m:t>𝝀</m:t>
                    </m:r>
                  </m:oMath>
                </a14:m>
                <a:r>
                  <a:rPr lang="en-US" b="1" dirty="0"/>
                  <a:t> </a:t>
                </a:r>
                <a:r>
                  <a:rPr lang="en-US" dirty="0"/>
                  <a:t>with the second-degree polynomial fit </a:t>
                </a:r>
              </a:p>
            </p:txBody>
          </p:sp>
        </mc:Choice>
        <mc:Fallback xmlns="">
          <p:sp>
            <p:nvSpPr>
              <p:cNvPr id="10" name="CuadroTexto 9">
                <a:extLst>
                  <a:ext uri="{FF2B5EF4-FFF2-40B4-BE49-F238E27FC236}">
                    <a16:creationId xmlns:a16="http://schemas.microsoft.com/office/drawing/2014/main" id="{9320AF78-1FC6-19F4-8E0B-8A414F20C6DE}"/>
                  </a:ext>
                </a:extLst>
              </p:cNvPr>
              <p:cNvSpPr txBox="1">
                <a:spLocks noRot="1" noChangeAspect="1" noMove="1" noResize="1" noEditPoints="1" noAdjustHandles="1" noChangeArrowheads="1" noChangeShapeType="1" noTextEdit="1"/>
              </p:cNvSpPr>
              <p:nvPr/>
            </p:nvSpPr>
            <p:spPr>
              <a:xfrm>
                <a:off x="6321421" y="2709096"/>
                <a:ext cx="5486559" cy="1200329"/>
              </a:xfrm>
              <a:prstGeom prst="rect">
                <a:avLst/>
              </a:prstGeom>
              <a:blipFill>
                <a:blip r:embed="rId8"/>
                <a:stretch>
                  <a:fillRect t="-2538" r="-556" b="-7107"/>
                </a:stretch>
              </a:blipFill>
            </p:spPr>
            <p:txBody>
              <a:bodyPr/>
              <a:lstStyle/>
              <a:p>
                <a:r>
                  <a:rPr lang="es-ES">
                    <a:noFill/>
                  </a:rPr>
                  <a:t> </a:t>
                </a:r>
              </a:p>
            </p:txBody>
          </p:sp>
        </mc:Fallback>
      </mc:AlternateContent>
      <p:sp>
        <p:nvSpPr>
          <p:cNvPr id="8" name="CuadroTexto 7">
            <a:extLst>
              <a:ext uri="{FF2B5EF4-FFF2-40B4-BE49-F238E27FC236}">
                <a16:creationId xmlns:a16="http://schemas.microsoft.com/office/drawing/2014/main" id="{0F38E924-A0E7-A039-C837-916BA77FE89B}"/>
              </a:ext>
            </a:extLst>
          </p:cNvPr>
          <p:cNvSpPr txBox="1"/>
          <p:nvPr/>
        </p:nvSpPr>
        <p:spPr>
          <a:xfrm>
            <a:off x="6347361" y="4498712"/>
            <a:ext cx="5486560" cy="276999"/>
          </a:xfrm>
          <a:prstGeom prst="rect">
            <a:avLst/>
          </a:prstGeom>
          <a:noFill/>
        </p:spPr>
        <p:txBody>
          <a:bodyPr wrap="square">
            <a:spAutoFit/>
          </a:bodyPr>
          <a:lstStyle/>
          <a:p>
            <a:pPr algn="r"/>
            <a:r>
              <a:rPr lang="en-US" sz="1200" b="1" dirty="0">
                <a:solidFill>
                  <a:schemeClr val="tx1"/>
                </a:solidFill>
                <a:latin typeface="Arial" panose="020B0604020202020204" pitchFamily="34" charset="0"/>
                <a:cs typeface="Arial" panose="020B0604020202020204" pitchFamily="34" charset="0"/>
              </a:rPr>
              <a:t>slab: 150nm</a:t>
            </a:r>
            <a:endParaRPr lang="en-US" sz="1200" dirty="0">
              <a:solidFill>
                <a:schemeClr val="tx1"/>
              </a:solidFill>
              <a:latin typeface="Arial" panose="020B0604020202020204" pitchFamily="34" charset="0"/>
              <a:cs typeface="Arial" panose="020B0604020202020204" pitchFamily="34" charset="0"/>
            </a:endParaRPr>
          </a:p>
        </p:txBody>
      </p:sp>
      <p:pic>
        <p:nvPicPr>
          <p:cNvPr id="11" name="Imagen 10">
            <a:extLst>
              <a:ext uri="{FF2B5EF4-FFF2-40B4-BE49-F238E27FC236}">
                <a16:creationId xmlns:a16="http://schemas.microsoft.com/office/drawing/2014/main" id="{B9237E19-5946-540E-DB76-1FCEC9593B92}"/>
              </a:ext>
            </a:extLst>
          </p:cNvPr>
          <p:cNvPicPr>
            <a:picLocks noChangeAspect="1"/>
          </p:cNvPicPr>
          <p:nvPr/>
        </p:nvPicPr>
        <p:blipFill>
          <a:blip r:embed="rId9"/>
          <a:stretch>
            <a:fillRect/>
          </a:stretch>
        </p:blipFill>
        <p:spPr>
          <a:xfrm>
            <a:off x="701037" y="1547610"/>
            <a:ext cx="5339080" cy="2934933"/>
          </a:xfrm>
          <a:prstGeom prst="rect">
            <a:avLst/>
          </a:prstGeom>
        </p:spPr>
      </p:pic>
      <p:pic>
        <p:nvPicPr>
          <p:cNvPr id="14" name="Imagen 13">
            <a:extLst>
              <a:ext uri="{FF2B5EF4-FFF2-40B4-BE49-F238E27FC236}">
                <a16:creationId xmlns:a16="http://schemas.microsoft.com/office/drawing/2014/main" id="{A36F3AC6-2F4A-92F7-64ED-90083AC32784}"/>
              </a:ext>
            </a:extLst>
          </p:cNvPr>
          <p:cNvPicPr>
            <a:picLocks noChangeAspect="1"/>
          </p:cNvPicPr>
          <p:nvPr/>
        </p:nvPicPr>
        <p:blipFill>
          <a:blip r:embed="rId10"/>
          <a:stretch>
            <a:fillRect/>
          </a:stretch>
        </p:blipFill>
        <p:spPr>
          <a:xfrm>
            <a:off x="6473023" y="1786382"/>
            <a:ext cx="5242747" cy="2881978"/>
          </a:xfrm>
          <a:prstGeom prst="rect">
            <a:avLst/>
          </a:prstGeom>
        </p:spPr>
      </p:pic>
    </p:spTree>
    <p:extLst>
      <p:ext uri="{BB962C8B-B14F-4D97-AF65-F5344CB8AC3E}">
        <p14:creationId xmlns:p14="http://schemas.microsoft.com/office/powerpoint/2010/main" val="236054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D59C5-FBC3-0FF4-1B12-97CD17CE990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64E4F01-A114-20B5-1CDE-10C8FF73920D}"/>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w=1.2um   - </a:t>
            </a:r>
            <a:r>
              <a:rPr lang="en-US" dirty="0"/>
              <a:t>Shallow</a:t>
            </a:r>
            <a:r>
              <a:rPr lang="en-US" b="0" dirty="0"/>
              <a:t> waveguide, core h=300nm, slab h=150 nm, w = 1.2um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C216645F-71E2-FBBF-FB62-230B75925DF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FFB3D58-ED0E-39B4-6D91-E35FD3DE1511}"/>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461F4473-B3C2-1E0B-9D4C-A7F4A0C402BD}"/>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6587A331-6AEE-7432-20AB-A5026082703E}"/>
              </a:ext>
            </a:extLst>
          </p:cNvPr>
          <p:cNvSpPr txBox="1"/>
          <p:nvPr/>
        </p:nvSpPr>
        <p:spPr>
          <a:xfrm>
            <a:off x="583734" y="1600200"/>
            <a:ext cx="11198542" cy="3970318"/>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En este ejercicio hemos obtenido los coeficientes del modelo compacto y, a partir de ellos, los valores de n, ng y D para los modos TE0 y TM0 en las guías </a:t>
            </a:r>
            <a:r>
              <a:rPr lang="es-ES" sz="1200" dirty="0" err="1">
                <a:latin typeface="Arial" panose="020B0604020202020204" pitchFamily="34" charset="0"/>
                <a:cs typeface="Arial" panose="020B0604020202020204" pitchFamily="34" charset="0"/>
              </a:rPr>
              <a:t>deep</a:t>
            </a:r>
            <a:r>
              <a:rPr lang="es-ES" sz="1200" dirty="0">
                <a:latin typeface="Arial" panose="020B0604020202020204" pitchFamily="34" charset="0"/>
                <a:cs typeface="Arial" panose="020B0604020202020204" pitchFamily="34" charset="0"/>
              </a:rPr>
              <a:t> y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A partir de las gráficas y de los valores numéricos se ve que el ajuste representa muy bien los puntos simulados en todo el rango de 1.5 a 1.6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así que el modelo describe de forma adecuada la dependencia espectral de ambas guías alrededor de 1.55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En las cuatro curvas la variación de </a:t>
            </a:r>
            <a:r>
              <a:rPr lang="es-ES" sz="1200" dirty="0" err="1">
                <a:latin typeface="Arial" panose="020B0604020202020204" pitchFamily="34" charset="0"/>
                <a:cs typeface="Arial" panose="020B0604020202020204" pitchFamily="34" charset="0"/>
              </a:rPr>
              <a:t>neff</a:t>
            </a:r>
            <a:r>
              <a:rPr lang="es-ES" sz="1200" dirty="0">
                <a:latin typeface="Arial" panose="020B0604020202020204" pitchFamily="34" charset="0"/>
                <a:cs typeface="Arial" panose="020B0604020202020204" pitchFamily="34" charset="0"/>
              </a:rPr>
              <a:t> es suave y descendente con la longitud de onda, y eso queda reflejado también en que n2 es negativo en todos los casos. Por tanto, el comportamiento obtenido en el modelo compacto es coherente con lo que ya habíamos visto en el barrido en longitud de onda.</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Comparando los modos, TE0 presenta siempre un valor de n mayor que TM0. En la guía </a:t>
            </a:r>
            <a:r>
              <a:rPr lang="es-ES" sz="1200" dirty="0" err="1">
                <a:latin typeface="Arial" panose="020B0604020202020204" pitchFamily="34" charset="0"/>
                <a:cs typeface="Arial" panose="020B0604020202020204" pitchFamily="34" charset="0"/>
              </a:rPr>
              <a:t>deep</a:t>
            </a:r>
            <a:r>
              <a:rPr lang="es-ES" sz="1200" dirty="0">
                <a:latin typeface="Arial" panose="020B0604020202020204" pitchFamily="34" charset="0"/>
                <a:cs typeface="Arial" panose="020B0604020202020204" pitchFamily="34" charset="0"/>
              </a:rPr>
              <a:t>, n vale 1.6049 para TE0 y 1.5272 para TM0, mientras que en la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vale 1.6241 para TE0 y 1.5419 para TM0. Esto indica que el modo TE0 está mejor guiado y más confinado que el TM0 en ambas geometrías. Además, al comparar </a:t>
            </a:r>
            <a:r>
              <a:rPr lang="es-ES" sz="1200" dirty="0" err="1">
                <a:latin typeface="Arial" panose="020B0604020202020204" pitchFamily="34" charset="0"/>
                <a:cs typeface="Arial" panose="020B0604020202020204" pitchFamily="34" charset="0"/>
              </a:rPr>
              <a:t>deep</a:t>
            </a:r>
            <a:r>
              <a:rPr lang="es-ES" sz="1200" dirty="0">
                <a:latin typeface="Arial" panose="020B0604020202020204" pitchFamily="34" charset="0"/>
                <a:cs typeface="Arial" panose="020B0604020202020204" pitchFamily="34" charset="0"/>
              </a:rPr>
              <a:t> y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se observa que la guía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da valores de n ligeramente superiores para los dos modos, lo que indica que la modificación geométrica entre ambas secciones influye de manera clara en la propagación y en el confinamiento del campo. La diferencia no es enorme, pero sí suficientemente clara como para apreciarse tanto en las gráficas como en los coeficientes obtenidos.</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cuanto al índice de grupo, en los cuatro casos resulta mayor que n. Esto es coherente con su definición, ya que ng no solo depende del valor de </a:t>
            </a:r>
            <a:r>
              <a:rPr lang="es-ES" sz="1200" dirty="0" err="1">
                <a:latin typeface="Arial" panose="020B0604020202020204" pitchFamily="34" charset="0"/>
                <a:cs typeface="Arial" panose="020B0604020202020204" pitchFamily="34" charset="0"/>
              </a:rPr>
              <a:t>neff</a:t>
            </a:r>
            <a:r>
              <a:rPr lang="es-ES" sz="1200" dirty="0">
                <a:latin typeface="Arial" panose="020B0604020202020204" pitchFamily="34" charset="0"/>
                <a:cs typeface="Arial" panose="020B0604020202020204" pitchFamily="34" charset="0"/>
              </a:rPr>
              <a:t> en la longitud de onda central, sino también de cómo cambia </a:t>
            </a:r>
            <a:r>
              <a:rPr lang="es-ES" sz="1200" dirty="0" err="1">
                <a:latin typeface="Arial" panose="020B0604020202020204" pitchFamily="34" charset="0"/>
                <a:cs typeface="Arial" panose="020B0604020202020204" pitchFamily="34" charset="0"/>
              </a:rPr>
              <a:t>neff</a:t>
            </a:r>
            <a:r>
              <a:rPr lang="es-ES" sz="1200" dirty="0">
                <a:latin typeface="Arial" panose="020B0604020202020204" pitchFamily="34" charset="0"/>
                <a:cs typeface="Arial" panose="020B0604020202020204" pitchFamily="34" charset="0"/>
              </a:rPr>
              <a:t> con lambda. También se aprecia que TE0 presenta valores de ng mayores que TM0, tanto en la guía </a:t>
            </a:r>
            <a:r>
              <a:rPr lang="es-ES" sz="1200" dirty="0" err="1">
                <a:latin typeface="Arial" panose="020B0604020202020204" pitchFamily="34" charset="0"/>
                <a:cs typeface="Arial" panose="020B0604020202020204" pitchFamily="34" charset="0"/>
              </a:rPr>
              <a:t>deep</a:t>
            </a:r>
            <a:r>
              <a:rPr lang="es-ES" sz="1200" dirty="0">
                <a:latin typeface="Arial" panose="020B0604020202020204" pitchFamily="34" charset="0"/>
                <a:cs typeface="Arial" panose="020B0604020202020204" pitchFamily="34" charset="0"/>
              </a:rPr>
              <a:t> como en la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Respecto a la dispersión, D sale negativa en los cuatro casos, y además su valor absoluto es mayor en TM0 que en TE0. Eso indica que el modo TM0 es más dispersivo y, por tanto, más sensible a la dependencia con la longitud de onda. Comparando las dos geometrías, la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mantiene un </a:t>
            </a:r>
            <a:r>
              <a:rPr lang="es-ES" sz="1200" dirty="0" err="1">
                <a:latin typeface="Arial" panose="020B0604020202020204" pitchFamily="34" charset="0"/>
                <a:cs typeface="Arial" panose="020B0604020202020204" pitchFamily="34" charset="0"/>
              </a:rPr>
              <a:t>neff</a:t>
            </a:r>
            <a:r>
              <a:rPr lang="es-ES" sz="1200" dirty="0">
                <a:latin typeface="Arial" panose="020B0604020202020204" pitchFamily="34" charset="0"/>
                <a:cs typeface="Arial" panose="020B0604020202020204" pitchFamily="34" charset="0"/>
              </a:rPr>
              <a:t> algo mayor, pero no cambia la tendencia general: TE0 sigue siendo el modo dominante y TM0 sigue siendo el más afectado por la dispersión.</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El ajuste de segundo orden reproduce correctamente la evolución espectral, la guía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presenta un </a:t>
            </a:r>
            <a:r>
              <a:rPr lang="es-ES" sz="1200" dirty="0" err="1">
                <a:latin typeface="Arial" panose="020B0604020202020204" pitchFamily="34" charset="0"/>
                <a:cs typeface="Arial" panose="020B0604020202020204" pitchFamily="34" charset="0"/>
              </a:rPr>
              <a:t>neff</a:t>
            </a:r>
            <a:r>
              <a:rPr lang="es-ES" sz="1200" dirty="0">
                <a:latin typeface="Arial" panose="020B0604020202020204" pitchFamily="34" charset="0"/>
                <a:cs typeface="Arial" panose="020B0604020202020204" pitchFamily="34" charset="0"/>
              </a:rPr>
              <a:t> ligeramente superior a la </a:t>
            </a:r>
            <a:r>
              <a:rPr lang="es-ES" sz="1200" dirty="0" err="1">
                <a:latin typeface="Arial" panose="020B0604020202020204" pitchFamily="34" charset="0"/>
                <a:cs typeface="Arial" panose="020B0604020202020204" pitchFamily="34" charset="0"/>
              </a:rPr>
              <a:t>deep</a:t>
            </a:r>
            <a:r>
              <a:rPr lang="es-ES" sz="1200" dirty="0">
                <a:latin typeface="Arial" panose="020B0604020202020204" pitchFamily="34" charset="0"/>
                <a:cs typeface="Arial" panose="020B0604020202020204" pitchFamily="34" charset="0"/>
              </a:rPr>
              <a:t>, el modo TE0 es el mejor confinado en los dos casos y el modo TM0 es el que presenta una dispersión más acusada. Por tanto, el modelo compacto no solo resume bien los resultados de simulación, sino que además permite extraer de forma clara las diferencias entre </a:t>
            </a:r>
            <a:r>
              <a:rPr lang="es-ES" sz="1200" dirty="0" err="1">
                <a:latin typeface="Arial" panose="020B0604020202020204" pitchFamily="34" charset="0"/>
                <a:cs typeface="Arial" panose="020B0604020202020204" pitchFamily="34" charset="0"/>
              </a:rPr>
              <a:t>deep</a:t>
            </a:r>
            <a:r>
              <a:rPr lang="es-ES" sz="1200" dirty="0">
                <a:latin typeface="Arial" panose="020B0604020202020204" pitchFamily="34" charset="0"/>
                <a:cs typeface="Arial" panose="020B0604020202020204" pitchFamily="34" charset="0"/>
              </a:rPr>
              <a:t> y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y entre los modos TE0 y TM0.</a:t>
            </a:r>
          </a:p>
        </p:txBody>
      </p:sp>
    </p:spTree>
    <p:extLst>
      <p:ext uri="{BB962C8B-B14F-4D97-AF65-F5344CB8AC3E}">
        <p14:creationId xmlns:p14="http://schemas.microsoft.com/office/powerpoint/2010/main" val="1592548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Bend waveguide radius vs. loss – deep</a:t>
            </a:r>
            <a:br>
              <a:rPr lang="en-US" sz="2500" dirty="0"/>
            </a:br>
            <a:r>
              <a:rPr lang="en-US" b="0" dirty="0"/>
              <a:t>Find  neff_TE0 for </a:t>
            </a:r>
            <a:r>
              <a:rPr lang="en-US" b="0" dirty="0" err="1"/>
              <a:t>wvl</a:t>
            </a:r>
            <a:r>
              <a:rPr lang="en-US" b="0" dirty="0"/>
              <a:t> 1.55 µm, width 1.2 µm for R=25,50,75,100, 125,150 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Comment results, which is the safe radius?, consider safe means less than 0.1 dB/90º</a:t>
            </a:r>
            <a:endParaRPr lang="es-ES" sz="1200" b="1"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La pérdida total disminuye al aumentar el radio de curvatura, porque una curva más suave introduce menos desajuste entre la guía recta y la curvada. Como hemos visto en teoría, en una guía curvada el modo se desplaza hacia la parte exterior de la curva y eso puede aumentar las pérdidas por </a:t>
            </a:r>
            <a:r>
              <a:rPr lang="es-ES" sz="1200" dirty="0" err="1">
                <a:latin typeface="Arial" panose="020B0604020202020204" pitchFamily="34" charset="0"/>
                <a:cs typeface="Arial" panose="020B0604020202020204" pitchFamily="34" charset="0"/>
              </a:rPr>
              <a:t>mismatch</a:t>
            </a:r>
            <a:r>
              <a:rPr lang="es-ES" sz="1200" dirty="0">
                <a:latin typeface="Arial" panose="020B0604020202020204" pitchFamily="34" charset="0"/>
                <a:cs typeface="Arial" panose="020B0604020202020204" pitchFamily="34" charset="0"/>
              </a:rPr>
              <a:t> en la transición recta-curva. En nuestros resultados R = 25 µm no es seguro porque supera 0.1 dB/90º, mientras que desde R = 50 µm la pérdida total ya queda por debajo de ese valor. Por tanto, el </a:t>
            </a:r>
            <a:r>
              <a:rPr lang="es-ES" sz="1200" dirty="0" err="1">
                <a:latin typeface="Arial" panose="020B0604020202020204" pitchFamily="34" charset="0"/>
                <a:cs typeface="Arial" panose="020B0604020202020204" pitchFamily="34" charset="0"/>
              </a:rPr>
              <a:t>safe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radius</a:t>
            </a:r>
            <a:r>
              <a:rPr lang="es-ES" sz="1200" dirty="0">
                <a:latin typeface="Arial" panose="020B0604020202020204" pitchFamily="34" charset="0"/>
                <a:cs typeface="Arial" panose="020B0604020202020204" pitchFamily="34" charset="0"/>
              </a:rPr>
              <a:t> es 50 µm. Además, neff_TE0 varía más para radios pequeños y después se estabiliza, así que las curvas cerradas afectan más al modo que las curvas grandes.</a:t>
            </a:r>
            <a:endParaRPr lang="en-US" sz="1200" dirty="0">
              <a:latin typeface="Arial" panose="020B0604020202020204" pitchFamily="34" charset="0"/>
              <a:cs typeface="Arial" panose="020B0604020202020204" pitchFamily="34" charset="0"/>
            </a:endParaRPr>
          </a:p>
          <a:p>
            <a:pPr algn="just"/>
            <a:endParaRPr lang="en-US" sz="1200" u="sng"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331EBD86-BA6C-68C9-2D38-FC8CFBA7ADC4}"/>
              </a:ext>
            </a:extLst>
          </p:cNvPr>
          <p:cNvSpPr txBox="1"/>
          <p:nvPr/>
        </p:nvSpPr>
        <p:spPr>
          <a:xfrm>
            <a:off x="2978141" y="2784355"/>
            <a:ext cx="6235717"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Total Loss (dB/90º) vs R &amp; neff_TE0 vs R</a:t>
            </a:r>
          </a:p>
        </p:txBody>
      </p:sp>
      <p:pic>
        <p:nvPicPr>
          <p:cNvPr id="5" name="Imagen 4">
            <a:extLst>
              <a:ext uri="{FF2B5EF4-FFF2-40B4-BE49-F238E27FC236}">
                <a16:creationId xmlns:a16="http://schemas.microsoft.com/office/drawing/2014/main" id="{6EF9C501-C582-C2B4-0E61-FC1F40E92975}"/>
              </a:ext>
            </a:extLst>
          </p:cNvPr>
          <p:cNvPicPr>
            <a:picLocks noChangeAspect="1"/>
          </p:cNvPicPr>
          <p:nvPr/>
        </p:nvPicPr>
        <p:blipFill>
          <a:blip r:embed="rId5"/>
          <a:stretch>
            <a:fillRect/>
          </a:stretch>
        </p:blipFill>
        <p:spPr>
          <a:xfrm>
            <a:off x="634048" y="1541893"/>
            <a:ext cx="5548957" cy="3050303"/>
          </a:xfrm>
          <a:prstGeom prst="rect">
            <a:avLst/>
          </a:prstGeom>
        </p:spPr>
      </p:pic>
      <p:pic>
        <p:nvPicPr>
          <p:cNvPr id="9" name="Imagen 8">
            <a:extLst>
              <a:ext uri="{FF2B5EF4-FFF2-40B4-BE49-F238E27FC236}">
                <a16:creationId xmlns:a16="http://schemas.microsoft.com/office/drawing/2014/main" id="{E7798CAC-B41A-312E-8757-C99E11F51799}"/>
              </a:ext>
            </a:extLst>
          </p:cNvPr>
          <p:cNvPicPr>
            <a:picLocks noChangeAspect="1"/>
          </p:cNvPicPr>
          <p:nvPr/>
        </p:nvPicPr>
        <p:blipFill>
          <a:blip r:embed="rId6"/>
          <a:stretch>
            <a:fillRect/>
          </a:stretch>
        </p:blipFill>
        <p:spPr>
          <a:xfrm>
            <a:off x="6183005" y="1554709"/>
            <a:ext cx="5618164" cy="3024670"/>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36354-732D-45BB-61B1-BD7B973D142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ABE07EF-84A8-DC96-A090-AA53ADB479D9}"/>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EXTRA?</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2DD9C130-1A6A-EDAF-D0A8-AE339F42033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956E172-4CC2-AEA9-14C4-B6455016DA85}"/>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8989475A-7106-C333-CAF3-24C9572E4BC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23D724CB-E3A1-0B12-37FE-A325A1D3C438}"/>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endParaRPr lang="en-US" sz="1200" u="sng"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6CB24D1-A781-6B22-CD3E-63AC1E4D166F}"/>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640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10</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1221</TotalTime>
  <Words>1386</Words>
  <Application>Microsoft Office PowerPoint</Application>
  <PresentationFormat>Panorámica</PresentationFormat>
  <Paragraphs>118</Paragraphs>
  <Slides>10</Slides>
  <Notes>7</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10</vt:i4>
      </vt:variant>
    </vt:vector>
  </HeadingPairs>
  <TitlesOfParts>
    <vt:vector size="18"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Learning outcome #1 – Effective index of a waveguide </vt:lpstr>
      <vt:lpstr>Learning outcome #2 – Wavelength behavior Wavelength 1.5-1.6 µm (step 0.01 µm) – width 1.2 µm</vt:lpstr>
      <vt:lpstr>Learning outcome #3 – Width dependence Width 0.6 - 1.6 µm (step 0.1 µm) – Wavelength 1.55 µm </vt:lpstr>
      <vt:lpstr>Learning outcome #4 – Waveguide compact model - Find the compact models of the following waveguides:  Deep waveguide, h=300nm, w=1.2um   - Shallow waveguide, core h=300nm, slab h=150 nm, w = 1.2um  </vt:lpstr>
      <vt:lpstr>Learning outcome #4 – Waveguide compact model - Find the compact models of the following waveguides:  Deep waveguide, h=300nm, w=1.2um   - Shallow waveguide, core h=300nm, slab h=150 nm, w = 1.2um  </vt:lpstr>
      <vt:lpstr>Learning outcome #5 – Bend waveguide radius vs. loss – deep Find  neff_TE0 for wvl 1.55 µm, width 1.2 µm for R=25,50,75,100, 125,150 µm </vt:lpstr>
      <vt:lpstr>EXTRA?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Pablo de Manuel Y Vicente</cp:lastModifiedBy>
  <cp:revision>17</cp:revision>
  <dcterms:created xsi:type="dcterms:W3CDTF">2025-01-27T02:46:57Z</dcterms:created>
  <dcterms:modified xsi:type="dcterms:W3CDTF">2026-03-12T14:14:13Z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