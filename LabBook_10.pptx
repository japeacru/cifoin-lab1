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2"/>
    <p:sldId id="295" r:id="rId3"/>
    <p:sldId id="290" r:id="rId4"/>
    <p:sldId id="291" r:id="rId5"/>
    <p:sldId id="292" r:id="rId6"/>
    <p:sldId id="297" r:id="rId7"/>
    <p:sldId id="293" r:id="rId8"/>
    <p:sldId id="288" r:id="rId9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669" autoAdjust="0"/>
  </p:normalViewPr>
  <p:slideViewPr>
    <p:cSldViewPr>
      <p:cViewPr>
        <p:scale>
          <a:sx n="125" d="100"/>
          <a:sy n="125" d="100"/>
        </p:scale>
        <p:origin x="-20" y="-131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3.png"/><Relationship Id="rId7" Type="http://schemas.openxmlformats.org/officeDocument/2006/relationships/image" Target="NUL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0" Type="http://schemas.openxmlformats.org/officeDocument/2006/relationships/image" Target="../media/image11.png"/><Relationship Id="rId4" Type="http://schemas.openxmlformats.org/officeDocument/2006/relationships/image" Target="../media/image4.sv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José Alberto Peña Cruz , Pablo de Manuel Vicente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https://github.com/cccanvas-upv/cifoin-lab1.git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600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Utilizando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combinacion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sin y sio2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nucleo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cubierta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respectivamente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temenos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4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solo dos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refraccion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3 y 4 (TE1 y TM1)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material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cubierta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(sio2).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plots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1 y 2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correspondientas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TE0 y TM0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intensidad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campos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dichos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concentra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centro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wavelength, comparison between different waveguide cross-sections …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disminuye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la longitude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4E7A47-20E2-3C27-D841-5A665642F6E2}"/>
              </a:ext>
            </a:extLst>
          </p:cNvPr>
          <p:cNvSpPr txBox="1"/>
          <p:nvPr/>
        </p:nvSpPr>
        <p:spPr>
          <a:xfrm>
            <a:off x="2285455" y="2671278"/>
            <a:ext cx="19805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8281672" y="2671278"/>
            <a:ext cx="17229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642989" y="4402885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slab </a:t>
            </a:r>
            <a:r>
              <a:rPr lang="en-US" dirty="0"/>
              <a:t>= 150nm</a:t>
            </a:r>
            <a:endParaRPr lang="es-ES" dirty="0"/>
          </a:p>
        </p:txBody>
      </p:sp>
      <p:pic>
        <p:nvPicPr>
          <p:cNvPr id="10" name="Imagen 9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4DD46900-1980-8CD1-854E-CAD64FA171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030" y="1513053"/>
            <a:ext cx="5143180" cy="3000188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B3C3A16-0C41-9DB9-7293-2AAED7651B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536200"/>
            <a:ext cx="5082411" cy="2964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marL="171450" indent="-171450" algn="just">
              <a:buFontTx/>
              <a:buChar char="-"/>
            </a:pPr>
            <a:r>
              <a:rPr lang="es-E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A medida que se incrementa el ancho de la guía , aumenta consigo el índice efectivo </a:t>
            </a:r>
            <a:r>
              <a:rPr lang="es-ES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s-E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, por lo que el índice efectivo y los modos que se propagan, </a:t>
            </a:r>
            <a:r>
              <a:rPr lang="es-ES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s-E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 directamente relacionados con el ancho de la guía.</a:t>
            </a:r>
          </a:p>
          <a:p>
            <a:pPr marL="171450" indent="-171450" algn="just">
              <a:buFontTx/>
              <a:buChar char="-"/>
            </a:pPr>
            <a:endParaRPr lang="es-ES" sz="1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Tx/>
              <a:buChar char="-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Tx/>
              <a:buChar char="-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Tx/>
              <a:buChar char="-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pic>
        <p:nvPicPr>
          <p:cNvPr id="5" name="Imagen 4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43B2A1FB-9189-C3C2-4CB4-DE022DEC6F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6600" y="1510598"/>
            <a:ext cx="5410200" cy="314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94400B4-EE16-8E85-AB54-E82FE3B293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Waveguide compact model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- Find the compact models of the following waveguides: </a:t>
            </a:r>
            <a:br>
              <a:rPr lang="en-US" b="0" dirty="0"/>
            </a:br>
            <a:r>
              <a:rPr lang="en-US" dirty="0"/>
              <a:t>Deep</a:t>
            </a:r>
            <a:r>
              <a:rPr lang="en-US" b="0" dirty="0"/>
              <a:t> waveguide, h=300nm, w=1.2um   - </a:t>
            </a:r>
            <a:r>
              <a:rPr lang="en-US" dirty="0"/>
              <a:t>Shallow</a:t>
            </a:r>
            <a:r>
              <a:rPr lang="en-US" b="0" dirty="0"/>
              <a:t> waveguide, core h=300nm, slab h=150 nm, w = 1.2um </a:t>
            </a:r>
            <a:br>
              <a:rPr lang="en-US" b="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79AB78F6-69A3-2828-4EA8-8747D257B46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5640" y="1645068"/>
            <a:ext cx="5338565" cy="2997223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AA9747B5-5460-ED3D-4EF2-C61D6D070C6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4172" y="1688639"/>
            <a:ext cx="5260958" cy="2953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#5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1.2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radius?,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Total Loss (dB/90º) vs R &amp; neff_TE0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1104</TotalTime>
  <Words>662</Words>
  <Application>Microsoft Office PowerPoint</Application>
  <PresentationFormat>Panorámica</PresentationFormat>
  <Paragraphs>101</Paragraphs>
  <Slides>8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6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Learning outcome #2 – Wavelength behavior Wavelength 1.5-1.6 µm (step 0.01 µm) – width 1.2 µm</vt:lpstr>
      <vt:lpstr>Learning outcome #3 – Width dependence Width 0.6 - 1.6 µm (step 0.1 µm) – Wavelength 1.55 µm </vt:lpstr>
      <vt:lpstr>Learning outcome #4 – Waveguide compact model - Find the compact models of the following waveguides:  Deep waveguide, h=300nm, w=1.2um   - Shallow waveguide, core h=300nm, slab h=150 nm, w = 1.2um  </vt:lpstr>
      <vt:lpstr>Learning outcome #5 – Bend waveguide radius vs. loss – deep Find  neff_TE0 for wvl 1.55 µm, width 1.2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Jose Alberto Peña Cruz</cp:lastModifiedBy>
  <cp:revision>13</cp:revision>
  <dcterms:created xsi:type="dcterms:W3CDTF">2025-01-27T02:46:57Z</dcterms:created>
  <dcterms:modified xsi:type="dcterms:W3CDTF">2026-02-26T17:33:50Z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